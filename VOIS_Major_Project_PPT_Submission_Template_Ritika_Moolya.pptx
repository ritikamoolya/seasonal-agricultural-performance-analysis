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68"/>
  </p:notesMasterIdLst>
  <p:handoutMasterIdLst>
    <p:handoutMasterId r:id="rId69"/>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3" r:id="rId18"/>
    <p:sldId id="350" r:id="rId19"/>
    <p:sldId id="351" r:id="rId20"/>
    <p:sldId id="352"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36"/>
    <p:sldId id="369" r:id="rId37"/>
    <p:sldId id="370" r:id="rId38"/>
    <p:sldId id="371" r:id="rId39"/>
    <p:sldId id="372" r:id="rId40"/>
    <p:sldId id="373" r:id="rId41"/>
    <p:sldId id="374" r:id="rId42"/>
    <p:sldId id="375" r:id="rId43"/>
    <p:sldId id="376" r:id="rId44"/>
    <p:sldId id="377" r:id="rId45"/>
    <p:sldId id="378" r:id="rId46"/>
    <p:sldId id="379" r:id="rId47"/>
    <p:sldId id="380" r:id="rId48"/>
    <p:sldId id="381" r:id="rId49"/>
    <p:sldId id="382" r:id="rId50"/>
    <p:sldId id="383" r:id="rId51"/>
    <p:sldId id="384" r:id="rId52"/>
    <p:sldId id="385" r:id="rId53"/>
    <p:sldId id="386" r:id="rId54"/>
    <p:sldId id="387" r:id="rId55"/>
    <p:sldId id="388" r:id="rId56"/>
    <p:sldId id="389" r:id="rId57"/>
    <p:sldId id="390" r:id="rId58"/>
    <p:sldId id="391" r:id="rId59"/>
    <p:sldId id="392" r:id="rId60"/>
    <p:sldId id="393" r:id="rId61"/>
    <p:sldId id="394" r:id="rId62"/>
    <p:sldId id="395" r:id="rId63"/>
    <p:sldId id="341" r:id="rId64"/>
    <p:sldId id="342" r:id="rId65"/>
    <p:sldId id="343" r:id="rId66"/>
    <p:sldId id="304"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C206AA-366E-4F34-892F-D76F86540D3B}" v="651" dt="2026-09-11T08:05:10.48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8" autoAdjust="0"/>
    <p:restoredTop sz="95033" autoAdjust="0"/>
  </p:normalViewPr>
  <p:slideViewPr>
    <p:cSldViewPr snapToGrid="0">
      <p:cViewPr varScale="1">
        <p:scale>
          <a:sx n="79" d="100"/>
          <a:sy n="79" d="100"/>
        </p:scale>
        <p:origin x="686"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3.png"/><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66.png"/><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0.png"/></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2.png"/></Relationships>
</file>

<file path=ppt/slides/_rels/slide3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7.pn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0.png"/></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2.png"/></Relationships>
</file>

<file path=ppt/slides/_rels/slide4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7.png"/></Relationships>
</file>

<file path=ppt/slides/_rels/slide4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0.png"/></Relationships>
</file>

<file path=ppt/slides/_rels/slide5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2.png"/></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4.png"/></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6.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8.png"/></Relationships>
</file>

<file path=ppt/slides/_rels/slide5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0.png"/></Relationships>
</file>

<file path=ppt/slides/_rels/slide5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3.png"/></Relationships>
</file>

<file path=ppt/slides/_rels/slide5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RitikaMoolya/Seasonal-Agricultural-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21161"/>
            <a:ext cx="7684273" cy="861497"/>
          </a:xfrm>
        </p:spPr>
        <p:txBody>
          <a:bodyPr vert="horz" lIns="91440" tIns="45720" rIns="91440" bIns="45720" rtlCol="0" anchor="t">
            <a:normAutofit/>
          </a:bodyPr>
          <a:lstStyle/>
          <a:p>
            <a:r>
              <a:rPr lang="en-US" dirty="0">
                <a:solidFill>
                  <a:schemeClr val="tx1"/>
                </a:solidFill>
                <a:latin typeface="Arial" panose="020B0604020202020204" pitchFamily="34" charset="0"/>
                <a:cs typeface="Arial" panose="020B0604020202020204" pitchFamily="34" charset="0"/>
              </a:rPr>
              <a:t>Student Name : </a:t>
            </a:r>
            <a:r>
              <a:rPr lang="en-US" b="0" dirty="0">
                <a:solidFill>
                  <a:schemeClr val="tx1"/>
                </a:solidFill>
                <a:latin typeface="Arial" panose="020B0604020202020204" pitchFamily="34" charset="0"/>
                <a:cs typeface="Arial" panose="020B0604020202020204" pitchFamily="34" charset="0"/>
              </a:rPr>
              <a:t>Ritika Dayanand Moolya </a:t>
            </a:r>
            <a:endParaRPr lang="en-IN" b="0"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College Name : </a:t>
            </a:r>
            <a:r>
              <a:rPr lang="en-US" b="0" dirty="0">
                <a:solidFill>
                  <a:schemeClr val="tx1"/>
                </a:solidFill>
                <a:latin typeface="Arial" panose="020B0604020202020204" pitchFamily="34" charset="0"/>
                <a:cs typeface="Arial" panose="020B0604020202020204" pitchFamily="34" charset="0"/>
              </a:rPr>
              <a:t>Pillai College of Arts, Commerce &amp; Science</a:t>
            </a:r>
            <a:endParaRPr lang="en-IN" b="0" dirty="0">
              <a:solidFill>
                <a:schemeClr val="tx1"/>
              </a:solidFill>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034596" cy="743448"/>
          </a:xfrm>
        </p:spPr>
        <p:txBody>
          <a:bodyPr>
            <a:normAutofit/>
          </a:bodyPr>
          <a:lstStyle/>
          <a:p>
            <a:r>
              <a:rPr lang="en-IN" b="1" dirty="0">
                <a:latin typeface="Arial" panose="020B0604020202020204" pitchFamily="34" charset="0"/>
                <a:cs typeface="Arial" panose="020B0604020202020204" pitchFamily="34" charset="0"/>
              </a:rPr>
              <a:t>Seasonal Agricultural Performance Analysis</a:t>
            </a:r>
            <a:endParaRPr lang="en-IN" sz="3200" dirty="0">
              <a:latin typeface="Arial" panose="020B0604020202020204" pitchFamily="34" charset="0"/>
              <a:cs typeface="Arial" panose="020B060402020202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457792"/>
            <a:ext cx="5938853" cy="400110"/>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AICTE STU ID : </a:t>
            </a:r>
            <a:r>
              <a:rPr lang="en-IN" sz="2000" dirty="0">
                <a:latin typeface="Arial" panose="020B0604020202020204" pitchFamily="34" charset="0"/>
                <a:cs typeface="Arial" panose="020B0604020202020204" pitchFamily="34" charset="0"/>
              </a:rPr>
              <a:t>STU6a6b4abc5f50a1785416380</a:t>
            </a:r>
            <a:r>
              <a:rPr lang="en-US" sz="2000" dirty="0">
                <a:latin typeface="Arial" panose="020B0604020202020204" pitchFamily="34" charset="0"/>
                <a:cs typeface="Arial" panose="020B0604020202020204" pitchFamily="34" charset="0"/>
              </a:rPr>
              <a:t> </a:t>
            </a: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7144258" cy="3607987"/>
          </a:xfrm>
        </p:spPr>
        <p:txBody>
          <a:bodyPr vert="horz" lIns="91440" tIns="45720" rIns="91440" bIns="45720" rtlCol="0" anchor="t">
            <a:normAutofit lnSpcReduction="10000"/>
          </a:bodyPr>
          <a:lstStyle/>
          <a:p>
            <a:pPr marL="0" indent="0" algn="just">
              <a:buNone/>
            </a:pPr>
            <a:r>
              <a:rPr lang="en-US" dirty="0">
                <a:solidFill>
                  <a:schemeClr val="tx1"/>
                </a:solidFill>
                <a:latin typeface="Arial" panose="020B0604020202020204" pitchFamily="34" charset="0"/>
                <a:cs typeface="Arial" panose="020B0604020202020204" pitchFamily="34" charset="0"/>
              </a:rPr>
              <a:t>Agricultural activities are influenced by seasonal variations in environmental conditions, farming practices, resource availability and market conditions. As a result, agricultural performance may differ from one season to another. </a:t>
            </a:r>
          </a:p>
          <a:p>
            <a:pPr marL="0" indent="0" algn="just">
              <a:buNone/>
            </a:pPr>
            <a:r>
              <a:rPr lang="en-US" dirty="0">
                <a:solidFill>
                  <a:schemeClr val="tx1"/>
                </a:solidFill>
                <a:latin typeface="Arial" panose="020B0604020202020204" pitchFamily="34" charset="0"/>
                <a:cs typeface="Arial" panose="020B0604020202020204" pitchFamily="34" charset="0"/>
              </a:rPr>
              <a:t>However, raw agricultural data does not clearly explain how agricultural performance changes across seasons or what patterns can be observed in different seasonal conditions.</a:t>
            </a:r>
          </a:p>
          <a:p>
            <a:pPr marL="0" indent="0" algn="just">
              <a:buNone/>
            </a:pPr>
            <a:r>
              <a:rPr lang="en-US" dirty="0">
                <a:solidFill>
                  <a:schemeClr val="tx1"/>
                </a:solidFill>
                <a:latin typeface="Arial" panose="020B0604020202020204" pitchFamily="34" charset="0"/>
                <a:cs typeface="Arial" panose="020B0604020202020204" pitchFamily="34" charset="0"/>
              </a:rPr>
              <a:t>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latin typeface="Arial" panose="020B0604020202020204" pitchFamily="34" charset="0"/>
              <a:cs typeface="Arial" panose="020B06040202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Arial" panose="020B0604020202020204" pitchFamily="34" charset="0"/>
                <a:cs typeface="Arial" panose="020B0604020202020204" pitchFamily="34" charset="0"/>
              </a:rPr>
              <a:t>PROBLEM  STATEMENT</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latin typeface="Arial" panose="020B0604020202020204" pitchFamily="34" charset="0"/>
                <a:cs typeface="Arial" panose="020B0604020202020204" pitchFamily="34" charset="0"/>
              </a:rPr>
              <a:t>Project Description</a:t>
            </a:r>
            <a:br>
              <a:rPr lang="en-GB" dirty="0">
                <a:latin typeface="Arial" panose="020B0604020202020204" pitchFamily="34" charset="0"/>
                <a:cs typeface="Arial" panose="020B0604020202020204" pitchFamily="34" charset="0"/>
              </a:rPr>
            </a:br>
            <a:br>
              <a:rPr lang="en-GB"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 Placeholder 1">
            <a:extLst>
              <a:ext uri="{FF2B5EF4-FFF2-40B4-BE49-F238E27FC236}">
                <a16:creationId xmlns:a16="http://schemas.microsoft.com/office/drawing/2014/main" id="{F68DA6A5-4B78-4D44-D3D0-242D001CDF1E}"/>
              </a:ext>
            </a:extLst>
          </p:cNvPr>
          <p:cNvSpPr>
            <a:spLocks noGrp="1"/>
          </p:cNvSpPr>
          <p:nvPr>
            <p:ph type="body" sz="quarter" idx="12"/>
          </p:nvPr>
        </p:nvSpPr>
        <p:spPr>
          <a:xfrm>
            <a:off x="660399" y="2092502"/>
            <a:ext cx="8924419" cy="2829693"/>
          </a:xfrm>
        </p:spPr>
        <p:txBody>
          <a:bodyPr vert="horz" lIns="91440" tIns="45720" rIns="91440" bIns="45720" rtlCol="0" anchor="t">
            <a:normAutofit/>
          </a:bodyPr>
          <a:lstStyle/>
          <a:p>
            <a:pPr marL="0" indent="0" algn="just">
              <a:buNone/>
            </a:pPr>
            <a:r>
              <a:rPr lang="en-IN" dirty="0">
                <a:solidFill>
                  <a:schemeClr val="tx1"/>
                </a:solidFill>
                <a:latin typeface="Arial" panose="020B0604020202020204" pitchFamily="34" charset="0"/>
                <a:cs typeface="Arial" panose="020B0604020202020204" pitchFamily="34" charset="0"/>
              </a:rPr>
              <a:t>This project performs exploratory data analysis and visualization on agricultural data to identify seasonal patterns, productivity trends, profitability, resource efficiency, and disease/pest risk. The analysis examines factors such as environmental conditions, soil characteristics, farming inputs, irrigation methods, crop types, and market conditions that influence agricultural performance across seasons. The objective is to derive meaningful insights that support data-driven farming, resource allocation, crop planning, and agricultural decision-making.</a:t>
            </a:r>
            <a:endParaRPr lang="en-IN"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636721"/>
            <a:ext cx="8903371" cy="4657074"/>
          </a:xfrm>
        </p:spPr>
        <p:txBody>
          <a:bodyPr>
            <a:noAutofit/>
          </a:bodyPr>
          <a:lstStyle/>
          <a:p>
            <a:pPr algn="just"/>
            <a:r>
              <a:rPr lang="en-IN" sz="1400" b="1" dirty="0">
                <a:solidFill>
                  <a:schemeClr val="tx1"/>
                </a:solidFill>
                <a:latin typeface="Arial" panose="020B0604020202020204" pitchFamily="34" charset="0"/>
                <a:cs typeface="Arial" panose="020B0604020202020204" pitchFamily="34" charset="0"/>
              </a:rPr>
              <a:t>Primary End Users:</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Farmers</a:t>
            </a:r>
            <a:r>
              <a:rPr lang="en-IN" sz="1400" dirty="0">
                <a:solidFill>
                  <a:schemeClr val="tx1"/>
                </a:solidFill>
                <a:latin typeface="Arial" panose="020B0604020202020204" pitchFamily="34" charset="0"/>
                <a:cs typeface="Arial" panose="020B0604020202020204" pitchFamily="34" charset="0"/>
              </a:rPr>
              <a:t> – Identify high-performing seasons, crops, irrigation methods, and resource-use patterns to improve farm productivity and profitability. </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Agricultural Analysts</a:t>
            </a:r>
            <a:r>
              <a:rPr lang="en-IN" sz="1400" dirty="0">
                <a:solidFill>
                  <a:schemeClr val="tx1"/>
                </a:solidFill>
                <a:latin typeface="Arial" panose="020B0604020202020204" pitchFamily="34" charset="0"/>
                <a:cs typeface="Arial" panose="020B0604020202020204" pitchFamily="34" charset="0"/>
              </a:rPr>
              <a:t> – </a:t>
            </a:r>
            <a:r>
              <a:rPr lang="en-IN" sz="1400" dirty="0" err="1">
                <a:solidFill>
                  <a:schemeClr val="tx1"/>
                </a:solidFill>
                <a:latin typeface="Arial" panose="020B0604020202020204" pitchFamily="34" charset="0"/>
                <a:cs typeface="Arial" panose="020B0604020202020204" pitchFamily="34" charset="0"/>
              </a:rPr>
              <a:t>Analyze</a:t>
            </a:r>
            <a:r>
              <a:rPr lang="en-IN" sz="1400" dirty="0">
                <a:solidFill>
                  <a:schemeClr val="tx1"/>
                </a:solidFill>
                <a:latin typeface="Arial" panose="020B0604020202020204" pitchFamily="34" charset="0"/>
                <a:cs typeface="Arial" panose="020B0604020202020204" pitchFamily="34" charset="0"/>
              </a:rPr>
              <a:t> seasonal trends, crop performance, environmental relationships, and agricultural KPIs. </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Agricultural Consultants</a:t>
            </a:r>
            <a:r>
              <a:rPr lang="en-IN" sz="1400" dirty="0">
                <a:solidFill>
                  <a:schemeClr val="tx1"/>
                </a:solidFill>
                <a:latin typeface="Arial" panose="020B0604020202020204" pitchFamily="34" charset="0"/>
                <a:cs typeface="Arial" panose="020B0604020202020204" pitchFamily="34" charset="0"/>
              </a:rPr>
              <a:t> – Use insights to provide data-driven recommendations on crop selection, farming practices, and resource allocation. </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Government Agricultural Departments</a:t>
            </a:r>
            <a:r>
              <a:rPr lang="en-IN" sz="1400" dirty="0">
                <a:solidFill>
                  <a:schemeClr val="tx1"/>
                </a:solidFill>
                <a:latin typeface="Arial" panose="020B0604020202020204" pitchFamily="34" charset="0"/>
                <a:cs typeface="Arial" panose="020B0604020202020204" pitchFamily="34" charset="0"/>
              </a:rPr>
              <a:t> – Support agricultural planning, seasonal policies, resource allocation, and productivity improvement programs. </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Agribusinesses</a:t>
            </a:r>
            <a:r>
              <a:rPr lang="en-IN" sz="1400" dirty="0">
                <a:solidFill>
                  <a:schemeClr val="tx1"/>
                </a:solidFill>
                <a:latin typeface="Arial" panose="020B0604020202020204" pitchFamily="34" charset="0"/>
                <a:cs typeface="Arial" panose="020B0604020202020204" pitchFamily="34" charset="0"/>
              </a:rPr>
              <a:t> – Evaluate crop performance, market conditions, profitability, and regional agricultural trends for business and supply-chain decisions.</a:t>
            </a:r>
          </a:p>
          <a:p>
            <a:pPr algn="just"/>
            <a:r>
              <a:rPr lang="en-IN" sz="1400" b="1" dirty="0">
                <a:solidFill>
                  <a:schemeClr val="tx1"/>
                </a:solidFill>
                <a:latin typeface="Arial" panose="020B0604020202020204" pitchFamily="34" charset="0"/>
                <a:cs typeface="Arial" panose="020B0604020202020204" pitchFamily="34" charset="0"/>
              </a:rPr>
              <a:t>Secondary End Users:</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Agricultural Researchers</a:t>
            </a:r>
            <a:r>
              <a:rPr lang="en-IN" sz="1400" dirty="0">
                <a:solidFill>
                  <a:schemeClr val="tx1"/>
                </a:solidFill>
                <a:latin typeface="Arial" panose="020B0604020202020204" pitchFamily="34" charset="0"/>
                <a:cs typeface="Arial" panose="020B0604020202020204" pitchFamily="34" charset="0"/>
              </a:rPr>
              <a:t> – Study relationships between environmental conditions, farming practices, and crop outcomes. </a:t>
            </a:r>
          </a:p>
          <a:p>
            <a:pPr lvl="0" algn="just">
              <a:buFont typeface="+mj-lt"/>
              <a:buAutoNum type="arabicPeriod"/>
            </a:pPr>
            <a:r>
              <a:rPr lang="en-IN" sz="1400" b="1" dirty="0">
                <a:solidFill>
                  <a:schemeClr val="tx1"/>
                </a:solidFill>
                <a:latin typeface="Arial" panose="020B0604020202020204" pitchFamily="34" charset="0"/>
                <a:cs typeface="Arial" panose="020B0604020202020204" pitchFamily="34" charset="0"/>
              </a:rPr>
              <a:t>Water Resource Planners</a:t>
            </a:r>
            <a:r>
              <a:rPr lang="en-IN" sz="1400" dirty="0">
                <a:solidFill>
                  <a:schemeClr val="tx1"/>
                </a:solidFill>
                <a:latin typeface="Arial" panose="020B0604020202020204" pitchFamily="34" charset="0"/>
                <a:cs typeface="Arial" panose="020B0604020202020204" pitchFamily="34" charset="0"/>
              </a:rPr>
              <a:t> – </a:t>
            </a:r>
            <a:r>
              <a:rPr lang="en-IN" sz="1400" dirty="0" err="1">
                <a:solidFill>
                  <a:schemeClr val="tx1"/>
                </a:solidFill>
                <a:latin typeface="Arial" panose="020B0604020202020204" pitchFamily="34" charset="0"/>
                <a:cs typeface="Arial" panose="020B0604020202020204" pitchFamily="34" charset="0"/>
              </a:rPr>
              <a:t>Analyze</a:t>
            </a:r>
            <a:r>
              <a:rPr lang="en-IN" sz="1400" dirty="0">
                <a:solidFill>
                  <a:schemeClr val="tx1"/>
                </a:solidFill>
                <a:latin typeface="Arial" panose="020B0604020202020204" pitchFamily="34" charset="0"/>
                <a:cs typeface="Arial" panose="020B0604020202020204" pitchFamily="34" charset="0"/>
              </a:rPr>
              <a:t> water consumption and water-efficiency patterns across crops, regions, and seasons.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646999"/>
          </a:xfrm>
        </p:spPr>
        <p:txBody>
          <a:bodyPr>
            <a:normAutofit/>
          </a:bodyPr>
          <a:lstStyle/>
          <a:p>
            <a:r>
              <a:rPr lang="en-US" sz="3200" dirty="0">
                <a:latin typeface="Arial" panose="020B0604020202020204" pitchFamily="34" charset="0"/>
                <a:cs typeface="Arial" panose="020B0604020202020204" pitchFamily="34" charset="0"/>
              </a:rPr>
              <a:t>WHO ARE THE END USERS?</a:t>
            </a:r>
            <a:endParaRPr lang="en-IN"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459166"/>
            <a:ext cx="2181225" cy="203413"/>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b="1" dirty="0">
                <a:solidFill>
                  <a:schemeClr val="tx1"/>
                </a:solidFill>
                <a:latin typeface="Arial" panose="020B0604020202020204" pitchFamily="34" charset="0"/>
                <a:cs typeface="Arial" panose="020B0604020202020204" pitchFamily="34" charset="0"/>
              </a:rPr>
              <a:t>Programming Language: </a:t>
            </a:r>
            <a:r>
              <a:rPr lang="en-US" dirty="0">
                <a:solidFill>
                  <a:schemeClr val="tx1"/>
                </a:solidFill>
                <a:latin typeface="Arial" panose="020B0604020202020204" pitchFamily="34" charset="0"/>
                <a:cs typeface="Arial" panose="020B0604020202020204" pitchFamily="34" charset="0"/>
              </a:rPr>
              <a:t>Python</a:t>
            </a:r>
          </a:p>
          <a:p>
            <a:pPr lvl="1">
              <a:lnSpc>
                <a:spcPct val="150000"/>
              </a:lnSpc>
            </a:pPr>
            <a:r>
              <a:rPr lang="en-US" b="1" dirty="0">
                <a:solidFill>
                  <a:schemeClr val="tx1"/>
                </a:solidFill>
                <a:latin typeface="Arial" panose="020B0604020202020204" pitchFamily="34" charset="0"/>
                <a:cs typeface="Arial" panose="020B0604020202020204" pitchFamily="34" charset="0"/>
              </a:rPr>
              <a:t>Libraries: </a:t>
            </a:r>
            <a:r>
              <a:rPr lang="en-US" dirty="0">
                <a:solidFill>
                  <a:schemeClr val="tx1"/>
                </a:solidFill>
                <a:latin typeface="Arial" panose="020B0604020202020204" pitchFamily="34" charset="0"/>
                <a:cs typeface="Arial" panose="020B0604020202020204" pitchFamily="34" charset="0"/>
              </a:rPr>
              <a:t>Pandas, Matplotlib, NumPy, Seaborn</a:t>
            </a:r>
          </a:p>
          <a:p>
            <a:pPr lvl="1">
              <a:lnSpc>
                <a:spcPct val="150000"/>
              </a:lnSpc>
            </a:pPr>
            <a:r>
              <a:rPr lang="en-US" b="1" dirty="0">
                <a:solidFill>
                  <a:schemeClr val="tx1"/>
                </a:solidFill>
                <a:latin typeface="Arial" panose="020B0604020202020204" pitchFamily="34" charset="0"/>
                <a:cs typeface="Arial" panose="020B0604020202020204" pitchFamily="34" charset="0"/>
              </a:rPr>
              <a:t>Development Environment:- </a:t>
            </a:r>
            <a:r>
              <a:rPr lang="en-US" dirty="0">
                <a:solidFill>
                  <a:schemeClr val="tx1"/>
                </a:solidFill>
                <a:latin typeface="Arial" panose="020B0604020202020204" pitchFamily="34" charset="0"/>
                <a:cs typeface="Arial" panose="020B0604020202020204" pitchFamily="34" charset="0"/>
              </a:rPr>
              <a:t>Google </a:t>
            </a:r>
            <a:r>
              <a:rPr lang="en-US" dirty="0" err="1">
                <a:solidFill>
                  <a:schemeClr val="tx1"/>
                </a:solidFill>
                <a:latin typeface="Arial" panose="020B0604020202020204" pitchFamily="34" charset="0"/>
                <a:cs typeface="Arial" panose="020B0604020202020204" pitchFamily="34" charset="0"/>
              </a:rPr>
              <a:t>Colab</a:t>
            </a:r>
            <a:endParaRPr lang="en-IN" dirty="0">
              <a:solidFill>
                <a:schemeClr val="tx1"/>
              </a:solidFill>
              <a:latin typeface="Arial" panose="020B0604020202020204" pitchFamily="34" charset="0"/>
              <a:cs typeface="Arial" panose="020B0604020202020204" pitchFamily="34"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Arial" panose="020B0604020202020204" pitchFamily="34" charset="0"/>
                <a:cs typeface="Arial" panose="020B0604020202020204" pitchFamily="34"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3127558" cy="830997"/>
          </a:xfrm>
        </p:spPr>
        <p:txBody>
          <a:bodyPr>
            <a:normAutofit/>
          </a:bodyPr>
          <a:lstStyle/>
          <a:p>
            <a:r>
              <a:rPr lang="en-GB" sz="4300" dirty="0">
                <a:latin typeface="Arial" panose="020B0604020202020204" pitchFamily="34" charset="0"/>
                <a:cs typeface="Arial" panose="020B0604020202020204" pitchFamily="34" charset="0"/>
              </a:rPr>
              <a:t>RESULTS  </a:t>
            </a:r>
            <a:endParaRPr lang="en-IN" sz="4300"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Title 3">
            <a:extLst>
              <a:ext uri="{FF2B5EF4-FFF2-40B4-BE49-F238E27FC236}">
                <a16:creationId xmlns:a16="http://schemas.microsoft.com/office/drawing/2014/main" id="{2A44FC8A-B83A-B250-D40B-5B535BD72486}"/>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(DATA EXPLORATION AND QUALITY ASSESSMENT)</a:t>
            </a:r>
            <a:endParaRPr lang="en-IN" sz="1800" b="0" dirty="0">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C5FC153D-8616-4255-B699-082A263620EA}"/>
              </a:ext>
            </a:extLst>
          </p:cNvPr>
          <p:cNvPicPr>
            <a:picLocks noChangeAspect="1"/>
          </p:cNvPicPr>
          <p:nvPr/>
        </p:nvPicPr>
        <p:blipFill>
          <a:blip r:embed="rId3"/>
          <a:stretch>
            <a:fillRect/>
          </a:stretch>
        </p:blipFill>
        <p:spPr>
          <a:xfrm>
            <a:off x="5677297" y="1649876"/>
            <a:ext cx="2225233" cy="510584"/>
          </a:xfrm>
          <a:prstGeom prst="rect">
            <a:avLst/>
          </a:prstGeom>
          <a:ln>
            <a:solidFill>
              <a:schemeClr val="tx1"/>
            </a:solidFill>
          </a:ln>
        </p:spPr>
      </p:pic>
      <p:pic>
        <p:nvPicPr>
          <p:cNvPr id="17" name="Picture 16">
            <a:extLst>
              <a:ext uri="{FF2B5EF4-FFF2-40B4-BE49-F238E27FC236}">
                <a16:creationId xmlns:a16="http://schemas.microsoft.com/office/drawing/2014/main" id="{1465A26A-3EBF-632F-A614-440E47989649}"/>
              </a:ext>
            </a:extLst>
          </p:cNvPr>
          <p:cNvPicPr>
            <a:picLocks noChangeAspect="1"/>
          </p:cNvPicPr>
          <p:nvPr/>
        </p:nvPicPr>
        <p:blipFill>
          <a:blip r:embed="rId4"/>
          <a:stretch>
            <a:fillRect/>
          </a:stretch>
        </p:blipFill>
        <p:spPr>
          <a:xfrm>
            <a:off x="2909766" y="1649043"/>
            <a:ext cx="2467266" cy="4206605"/>
          </a:xfrm>
          <a:prstGeom prst="rect">
            <a:avLst/>
          </a:prstGeom>
          <a:ln>
            <a:solidFill>
              <a:schemeClr val="tx1"/>
            </a:solidFill>
          </a:ln>
        </p:spPr>
      </p:pic>
      <p:pic>
        <p:nvPicPr>
          <p:cNvPr id="23" name="Picture 22">
            <a:extLst>
              <a:ext uri="{FF2B5EF4-FFF2-40B4-BE49-F238E27FC236}">
                <a16:creationId xmlns:a16="http://schemas.microsoft.com/office/drawing/2014/main" id="{7EDF8D1B-1585-2AC0-D85B-9DF17BDD9B61}"/>
              </a:ext>
            </a:extLst>
          </p:cNvPr>
          <p:cNvPicPr>
            <a:picLocks noChangeAspect="1"/>
          </p:cNvPicPr>
          <p:nvPr/>
        </p:nvPicPr>
        <p:blipFill>
          <a:blip r:embed="rId5"/>
          <a:stretch>
            <a:fillRect/>
          </a:stretch>
        </p:blipFill>
        <p:spPr>
          <a:xfrm>
            <a:off x="5721478" y="3059564"/>
            <a:ext cx="2225232" cy="403900"/>
          </a:xfrm>
          <a:prstGeom prst="rect">
            <a:avLst/>
          </a:prstGeom>
          <a:ln>
            <a:solidFill>
              <a:schemeClr val="tx1"/>
            </a:solidFill>
          </a:ln>
        </p:spPr>
      </p:pic>
      <p:pic>
        <p:nvPicPr>
          <p:cNvPr id="25" name="Picture 24">
            <a:extLst>
              <a:ext uri="{FF2B5EF4-FFF2-40B4-BE49-F238E27FC236}">
                <a16:creationId xmlns:a16="http://schemas.microsoft.com/office/drawing/2014/main" id="{96140BF9-412D-0688-DA7F-D0D9D226C4F7}"/>
              </a:ext>
            </a:extLst>
          </p:cNvPr>
          <p:cNvPicPr>
            <a:picLocks noChangeAspect="1"/>
          </p:cNvPicPr>
          <p:nvPr/>
        </p:nvPicPr>
        <p:blipFill>
          <a:blip r:embed="rId6"/>
          <a:stretch>
            <a:fillRect/>
          </a:stretch>
        </p:blipFill>
        <p:spPr>
          <a:xfrm>
            <a:off x="656502" y="1649042"/>
            <a:ext cx="2143124" cy="5075911"/>
          </a:xfrm>
          <a:prstGeom prst="rect">
            <a:avLst/>
          </a:prstGeom>
          <a:ln>
            <a:solidFill>
              <a:schemeClr val="tx1"/>
            </a:solidFill>
          </a:ln>
        </p:spPr>
      </p:pic>
      <p:sp>
        <p:nvSpPr>
          <p:cNvPr id="26" name="Title 3">
            <a:extLst>
              <a:ext uri="{FF2B5EF4-FFF2-40B4-BE49-F238E27FC236}">
                <a16:creationId xmlns:a16="http://schemas.microsoft.com/office/drawing/2014/main" id="{67CD4BA0-1085-8165-679A-7D47A06A06FE}"/>
              </a:ext>
            </a:extLst>
          </p:cNvPr>
          <p:cNvSpPr txBox="1">
            <a:spLocks/>
          </p:cNvSpPr>
          <p:nvPr/>
        </p:nvSpPr>
        <p:spPr>
          <a:xfrm>
            <a:off x="656502" y="1275372"/>
            <a:ext cx="2293343"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Missing Value Detection</a:t>
            </a:r>
          </a:p>
        </p:txBody>
      </p:sp>
      <p:sp>
        <p:nvSpPr>
          <p:cNvPr id="27" name="Title 3">
            <a:extLst>
              <a:ext uri="{FF2B5EF4-FFF2-40B4-BE49-F238E27FC236}">
                <a16:creationId xmlns:a16="http://schemas.microsoft.com/office/drawing/2014/main" id="{A53D02C6-B9DA-70F7-8CE3-5D9714839EF8}"/>
              </a:ext>
            </a:extLst>
          </p:cNvPr>
          <p:cNvSpPr txBox="1">
            <a:spLocks/>
          </p:cNvSpPr>
          <p:nvPr/>
        </p:nvSpPr>
        <p:spPr>
          <a:xfrm>
            <a:off x="3140017" y="1275371"/>
            <a:ext cx="2293343"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Column Overview</a:t>
            </a:r>
          </a:p>
        </p:txBody>
      </p:sp>
      <p:sp>
        <p:nvSpPr>
          <p:cNvPr id="28" name="Title 3">
            <a:extLst>
              <a:ext uri="{FF2B5EF4-FFF2-40B4-BE49-F238E27FC236}">
                <a16:creationId xmlns:a16="http://schemas.microsoft.com/office/drawing/2014/main" id="{2D127A76-4F6A-F14F-C72A-ABAE4B796171}"/>
              </a:ext>
            </a:extLst>
          </p:cNvPr>
          <p:cNvSpPr txBox="1">
            <a:spLocks/>
          </p:cNvSpPr>
          <p:nvPr/>
        </p:nvSpPr>
        <p:spPr>
          <a:xfrm>
            <a:off x="5567204" y="1275371"/>
            <a:ext cx="4519959"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Dataset Dimension before handling missing values</a:t>
            </a:r>
          </a:p>
        </p:txBody>
      </p:sp>
      <p:sp>
        <p:nvSpPr>
          <p:cNvPr id="29" name="Title 3">
            <a:extLst>
              <a:ext uri="{FF2B5EF4-FFF2-40B4-BE49-F238E27FC236}">
                <a16:creationId xmlns:a16="http://schemas.microsoft.com/office/drawing/2014/main" id="{939F8C09-9151-FE8D-C3E4-C4A2741BC631}"/>
              </a:ext>
            </a:extLst>
          </p:cNvPr>
          <p:cNvSpPr txBox="1">
            <a:spLocks/>
          </p:cNvSpPr>
          <p:nvPr/>
        </p:nvSpPr>
        <p:spPr>
          <a:xfrm>
            <a:off x="5597265" y="2643263"/>
            <a:ext cx="2598143"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Duplicate Record Detection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p:cTn id="28" dur="500" fill="hold"/>
                                        <p:tgtEl>
                                          <p:spTgt spid="26"/>
                                        </p:tgtEl>
                                        <p:attrNameLst>
                                          <p:attrName>ppt_w</p:attrName>
                                        </p:attrNameLst>
                                      </p:cBhvr>
                                      <p:tavLst>
                                        <p:tav tm="0">
                                          <p:val>
                                            <p:fltVal val="0"/>
                                          </p:val>
                                        </p:tav>
                                        <p:tav tm="100000">
                                          <p:val>
                                            <p:strVal val="#ppt_w"/>
                                          </p:val>
                                        </p:tav>
                                      </p:tavLst>
                                    </p:anim>
                                    <p:anim calcmode="lin" valueType="num">
                                      <p:cBhvr>
                                        <p:cTn id="29" dur="500" fill="hold"/>
                                        <p:tgtEl>
                                          <p:spTgt spid="26"/>
                                        </p:tgtEl>
                                        <p:attrNameLst>
                                          <p:attrName>ppt_h</p:attrName>
                                        </p:attrNameLst>
                                      </p:cBhvr>
                                      <p:tavLst>
                                        <p:tav tm="0">
                                          <p:val>
                                            <p:fltVal val="0"/>
                                          </p:val>
                                        </p:tav>
                                        <p:tav tm="100000">
                                          <p:val>
                                            <p:strVal val="#ppt_h"/>
                                          </p:val>
                                        </p:tav>
                                      </p:tavLst>
                                    </p:anim>
                                    <p:animEffect transition="in" filter="fade">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 calcmode="lin" valueType="num">
                                      <p:cBhvr>
                                        <p:cTn id="35" dur="500" fill="hold"/>
                                        <p:tgtEl>
                                          <p:spTgt spid="27"/>
                                        </p:tgtEl>
                                        <p:attrNameLst>
                                          <p:attrName>ppt_w</p:attrName>
                                        </p:attrNameLst>
                                      </p:cBhvr>
                                      <p:tavLst>
                                        <p:tav tm="0">
                                          <p:val>
                                            <p:fltVal val="0"/>
                                          </p:val>
                                        </p:tav>
                                        <p:tav tm="100000">
                                          <p:val>
                                            <p:strVal val="#ppt_w"/>
                                          </p:val>
                                        </p:tav>
                                      </p:tavLst>
                                    </p:anim>
                                    <p:anim calcmode="lin" valueType="num">
                                      <p:cBhvr>
                                        <p:cTn id="36" dur="500" fill="hold"/>
                                        <p:tgtEl>
                                          <p:spTgt spid="27"/>
                                        </p:tgtEl>
                                        <p:attrNameLst>
                                          <p:attrName>ppt_h</p:attrName>
                                        </p:attrNameLst>
                                      </p:cBhvr>
                                      <p:tavLst>
                                        <p:tav tm="0">
                                          <p:val>
                                            <p:fltVal val="0"/>
                                          </p:val>
                                        </p:tav>
                                        <p:tav tm="100000">
                                          <p:val>
                                            <p:strVal val="#ppt_h"/>
                                          </p:val>
                                        </p:tav>
                                      </p:tavLst>
                                    </p:anim>
                                    <p:animEffect transition="in" filter="fad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p:cTn id="42" dur="500" fill="hold"/>
                                        <p:tgtEl>
                                          <p:spTgt spid="28"/>
                                        </p:tgtEl>
                                        <p:attrNameLst>
                                          <p:attrName>ppt_w</p:attrName>
                                        </p:attrNameLst>
                                      </p:cBhvr>
                                      <p:tavLst>
                                        <p:tav tm="0">
                                          <p:val>
                                            <p:fltVal val="0"/>
                                          </p:val>
                                        </p:tav>
                                        <p:tav tm="100000">
                                          <p:val>
                                            <p:strVal val="#ppt_w"/>
                                          </p:val>
                                        </p:tav>
                                      </p:tavLst>
                                    </p:anim>
                                    <p:anim calcmode="lin" valueType="num">
                                      <p:cBhvr>
                                        <p:cTn id="43" dur="500" fill="hold"/>
                                        <p:tgtEl>
                                          <p:spTgt spid="28"/>
                                        </p:tgtEl>
                                        <p:attrNameLst>
                                          <p:attrName>ppt_h</p:attrName>
                                        </p:attrNameLst>
                                      </p:cBhvr>
                                      <p:tavLst>
                                        <p:tav tm="0">
                                          <p:val>
                                            <p:fltVal val="0"/>
                                          </p:val>
                                        </p:tav>
                                        <p:tav tm="100000">
                                          <p:val>
                                            <p:strVal val="#ppt_h"/>
                                          </p:val>
                                        </p:tav>
                                      </p:tavLst>
                                    </p:anim>
                                    <p:animEffect transition="in" filter="fad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500" fill="hold"/>
                                        <p:tgtEl>
                                          <p:spTgt spid="29"/>
                                        </p:tgtEl>
                                        <p:attrNameLst>
                                          <p:attrName>ppt_w</p:attrName>
                                        </p:attrNameLst>
                                      </p:cBhvr>
                                      <p:tavLst>
                                        <p:tav tm="0">
                                          <p:val>
                                            <p:fltVal val="0"/>
                                          </p:val>
                                        </p:tav>
                                        <p:tav tm="100000">
                                          <p:val>
                                            <p:strVal val="#ppt_w"/>
                                          </p:val>
                                        </p:tav>
                                      </p:tavLst>
                                    </p:anim>
                                    <p:anim calcmode="lin" valueType="num">
                                      <p:cBhvr>
                                        <p:cTn id="50" dur="500" fill="hold"/>
                                        <p:tgtEl>
                                          <p:spTgt spid="29"/>
                                        </p:tgtEl>
                                        <p:attrNameLst>
                                          <p:attrName>ppt_h</p:attrName>
                                        </p:attrNameLst>
                                      </p:cBhvr>
                                      <p:tavLst>
                                        <p:tav tm="0">
                                          <p:val>
                                            <p:fltVal val="0"/>
                                          </p:val>
                                        </p:tav>
                                        <p:tav tm="100000">
                                          <p:val>
                                            <p:strVal val="#ppt_h"/>
                                          </p:val>
                                        </p:tav>
                                      </p:tavLst>
                                    </p:anim>
                                    <p:animEffect transition="in" filter="fade">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p:bldP spid="26" grpId="0"/>
      <p:bldP spid="27"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35D3A6AC-3B69-E40E-A20C-47891FC0F0EB}"/>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(DATA CLEANING AND PREPROCESSING)</a:t>
            </a:r>
            <a:endParaRPr lang="en-IN" sz="1800" b="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41DE7162-E340-2611-C8D8-6A61CC52F64E}"/>
              </a:ext>
            </a:extLst>
          </p:cNvPr>
          <p:cNvPicPr>
            <a:picLocks noChangeAspect="1"/>
          </p:cNvPicPr>
          <p:nvPr/>
        </p:nvPicPr>
        <p:blipFill>
          <a:blip r:embed="rId3"/>
          <a:stretch>
            <a:fillRect/>
          </a:stretch>
        </p:blipFill>
        <p:spPr>
          <a:xfrm>
            <a:off x="617850" y="3167042"/>
            <a:ext cx="2915732" cy="647941"/>
          </a:xfrm>
          <a:prstGeom prst="rect">
            <a:avLst/>
          </a:prstGeom>
          <a:ln>
            <a:solidFill>
              <a:schemeClr val="tx1"/>
            </a:solidFill>
          </a:ln>
        </p:spPr>
      </p:pic>
      <p:sp>
        <p:nvSpPr>
          <p:cNvPr id="12" name="Title 3">
            <a:extLst>
              <a:ext uri="{FF2B5EF4-FFF2-40B4-BE49-F238E27FC236}">
                <a16:creationId xmlns:a16="http://schemas.microsoft.com/office/drawing/2014/main" id="{1B4A909D-74B8-C7CC-5393-3C3D08D06211}"/>
              </a:ext>
            </a:extLst>
          </p:cNvPr>
          <p:cNvSpPr txBox="1">
            <a:spLocks/>
          </p:cNvSpPr>
          <p:nvPr/>
        </p:nvSpPr>
        <p:spPr>
          <a:xfrm>
            <a:off x="429368" y="2738570"/>
            <a:ext cx="4745747"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Dataset Dimension of temporary </a:t>
            </a:r>
            <a:r>
              <a:rPr lang="en-IN" sz="1400" dirty="0" err="1">
                <a:latin typeface="Arial" panose="020B0604020202020204" pitchFamily="34" charset="0"/>
                <a:cs typeface="Arial" panose="020B0604020202020204" pitchFamily="34" charset="0"/>
              </a:rPr>
              <a:t>DataFrame</a:t>
            </a:r>
            <a:r>
              <a:rPr lang="en-IN" sz="1400" dirty="0">
                <a:latin typeface="Arial" panose="020B0604020202020204" pitchFamily="34" charset="0"/>
                <a:cs typeface="Arial" panose="020B0604020202020204" pitchFamily="34" charset="0"/>
              </a:rPr>
              <a:t> of Yield</a:t>
            </a:r>
          </a:p>
        </p:txBody>
      </p:sp>
      <p:sp>
        <p:nvSpPr>
          <p:cNvPr id="14" name="TextBox 13">
            <a:extLst>
              <a:ext uri="{FF2B5EF4-FFF2-40B4-BE49-F238E27FC236}">
                <a16:creationId xmlns:a16="http://schemas.microsoft.com/office/drawing/2014/main" id="{6B4FA649-6D1B-999B-F53A-C8C26474CE6F}"/>
              </a:ext>
            </a:extLst>
          </p:cNvPr>
          <p:cNvSpPr txBox="1"/>
          <p:nvPr/>
        </p:nvSpPr>
        <p:spPr>
          <a:xfrm>
            <a:off x="441035" y="1201584"/>
            <a:ext cx="6403290" cy="1323439"/>
          </a:xfrm>
          <a:prstGeom prst="rect">
            <a:avLst/>
          </a:prstGeom>
          <a:noFill/>
        </p:spPr>
        <p:txBody>
          <a:bodyPr wrap="square">
            <a:spAutoFit/>
          </a:bodyPr>
          <a:lstStyle/>
          <a:p>
            <a:pPr algn="just"/>
            <a:r>
              <a:rPr lang="en-IN" sz="1600" b="1" dirty="0">
                <a:latin typeface="Arial" panose="020B0604020202020204" pitchFamily="34" charset="0"/>
                <a:cs typeface="Arial" panose="020B0604020202020204" pitchFamily="34" charset="0"/>
              </a:rPr>
              <a:t>Missing values handling process:</a:t>
            </a:r>
            <a:r>
              <a:rPr lang="en-IN" sz="1600" dirty="0">
                <a:latin typeface="Arial" panose="020B0604020202020204" pitchFamily="34" charset="0"/>
                <a:cs typeface="Arial" panose="020B0604020202020204" pitchFamily="34" charset="0"/>
              </a:rPr>
              <a:t> Missing yield values were handled using a temporary </a:t>
            </a:r>
            <a:r>
              <a:rPr lang="en-IN" sz="1600" dirty="0" err="1">
                <a:latin typeface="Arial" panose="020B0604020202020204" pitchFamily="34" charset="0"/>
                <a:cs typeface="Arial" panose="020B0604020202020204" pitchFamily="34" charset="0"/>
              </a:rPr>
              <a:t>DataFrame</a:t>
            </a:r>
            <a:r>
              <a:rPr lang="en-IN" sz="1600" dirty="0">
                <a:latin typeface="Arial" panose="020B0604020202020204" pitchFamily="34" charset="0"/>
                <a:cs typeface="Arial" panose="020B0604020202020204" pitchFamily="34" charset="0"/>
              </a:rPr>
              <a:t> containing only available yield records while preserving the original dataset for other analyses. Missing rainfall and soil moisture values were imputed using State-and-Season-wise medians to preserve local and seasonal patterns.</a:t>
            </a:r>
          </a:p>
        </p:txBody>
      </p:sp>
      <p:pic>
        <p:nvPicPr>
          <p:cNvPr id="16" name="Picture 15">
            <a:extLst>
              <a:ext uri="{FF2B5EF4-FFF2-40B4-BE49-F238E27FC236}">
                <a16:creationId xmlns:a16="http://schemas.microsoft.com/office/drawing/2014/main" id="{E9869C1C-F988-D8CF-DC0E-EE769A32D637}"/>
              </a:ext>
            </a:extLst>
          </p:cNvPr>
          <p:cNvPicPr>
            <a:picLocks noChangeAspect="1"/>
          </p:cNvPicPr>
          <p:nvPr/>
        </p:nvPicPr>
        <p:blipFill>
          <a:blip r:embed="rId4"/>
          <a:stretch>
            <a:fillRect/>
          </a:stretch>
        </p:blipFill>
        <p:spPr>
          <a:xfrm>
            <a:off x="7668369" y="1353192"/>
            <a:ext cx="4202649" cy="5389589"/>
          </a:xfrm>
          <a:prstGeom prst="rect">
            <a:avLst/>
          </a:prstGeom>
          <a:ln>
            <a:solidFill>
              <a:schemeClr val="tx1"/>
            </a:solidFill>
          </a:ln>
        </p:spPr>
      </p:pic>
      <p:sp>
        <p:nvSpPr>
          <p:cNvPr id="19" name="Title 3">
            <a:extLst>
              <a:ext uri="{FF2B5EF4-FFF2-40B4-BE49-F238E27FC236}">
                <a16:creationId xmlns:a16="http://schemas.microsoft.com/office/drawing/2014/main" id="{7581ACAD-3D3D-4C68-0774-54018197E4D9}"/>
              </a:ext>
            </a:extLst>
          </p:cNvPr>
          <p:cNvSpPr txBox="1">
            <a:spLocks/>
          </p:cNvSpPr>
          <p:nvPr/>
        </p:nvSpPr>
        <p:spPr>
          <a:xfrm>
            <a:off x="7456714" y="999633"/>
            <a:ext cx="4519959"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400" dirty="0">
                <a:latin typeface="Arial" panose="020B0604020202020204" pitchFamily="34" charset="0"/>
                <a:cs typeface="Arial" panose="020B0604020202020204" pitchFamily="34" charset="0"/>
              </a:rPr>
              <a:t>Quick Summary of </a:t>
            </a:r>
            <a:r>
              <a:rPr lang="en-IN" sz="1400" dirty="0" err="1">
                <a:latin typeface="Arial" panose="020B0604020202020204" pitchFamily="34" charset="0"/>
                <a:cs typeface="Arial" panose="020B0604020202020204" pitchFamily="34" charset="0"/>
              </a:rPr>
              <a:t>DataFrame</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6" grpId="0"/>
      <p:bldP spid="12"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3B04E39-4F10-8921-C7C9-90CE9FCE1E04}"/>
              </a:ext>
            </a:extLst>
          </p:cNvPr>
          <p:cNvPicPr>
            <a:picLocks noChangeAspect="1"/>
          </p:cNvPicPr>
          <p:nvPr/>
        </p:nvPicPr>
        <p:blipFill>
          <a:blip r:embed="rId3"/>
          <a:stretch>
            <a:fillRect/>
          </a:stretch>
        </p:blipFill>
        <p:spPr>
          <a:xfrm>
            <a:off x="2491737" y="1018975"/>
            <a:ext cx="7208526" cy="5741748"/>
          </a:xfrm>
          <a:prstGeom prst="rect">
            <a:avLst/>
          </a:prstGeom>
          <a:ln>
            <a:solidFill>
              <a:schemeClr val="tx1"/>
            </a:solidFill>
          </a:ln>
        </p:spPr>
      </p:pic>
      <p:sp>
        <p:nvSpPr>
          <p:cNvPr id="12" name="TextBox 11">
            <a:extLst>
              <a:ext uri="{FF2B5EF4-FFF2-40B4-BE49-F238E27FC236}">
                <a16:creationId xmlns:a16="http://schemas.microsoft.com/office/drawing/2014/main" id="{D4071AC9-BCA5-F7B7-FF17-25415A16EFC2}"/>
              </a:ext>
            </a:extLst>
          </p:cNvPr>
          <p:cNvSpPr txBox="1"/>
          <p:nvPr/>
        </p:nvSpPr>
        <p:spPr>
          <a:xfrm>
            <a:off x="4260945" y="631019"/>
            <a:ext cx="3670110" cy="310135"/>
          </a:xfrm>
          <a:prstGeom prst="rect">
            <a:avLst/>
          </a:prstGeom>
          <a:noFill/>
        </p:spPr>
        <p:txBody>
          <a:bodyPr wrap="square">
            <a:spAutoFit/>
          </a:bodyPr>
          <a:lstStyle/>
          <a:p>
            <a:pPr>
              <a:lnSpc>
                <a:spcPct val="100000"/>
              </a:lnSpc>
              <a:buNone/>
            </a:pPr>
            <a:r>
              <a:rPr lang="en-IN" sz="1400" b="1" dirty="0">
                <a:latin typeface="Arial" panose="020B0604020202020204" pitchFamily="34" charset="0"/>
                <a:cs typeface="Arial" panose="020B0604020202020204" pitchFamily="34" charset="0"/>
              </a:rPr>
              <a:t>D</a:t>
            </a:r>
            <a:r>
              <a:rPr lang="en-IN" sz="1400" b="1" dirty="0">
                <a:solidFill>
                  <a:schemeClr val="tx1"/>
                </a:solidFill>
                <a:effectLst/>
                <a:latin typeface="Arial" panose="020B0604020202020204" pitchFamily="34" charset="0"/>
                <a:cs typeface="Arial" panose="020B0604020202020204" pitchFamily="34" charset="0"/>
              </a:rPr>
              <a:t>escriptive statistics after data cleaning</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201263"/>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95942AC0-00E9-BA90-64E3-1014A96CED31}"/>
              </a:ext>
            </a:extLst>
          </p:cNvPr>
          <p:cNvSpPr txBox="1"/>
          <p:nvPr/>
        </p:nvSpPr>
        <p:spPr>
          <a:xfrm>
            <a:off x="415046" y="843594"/>
            <a:ext cx="11776954" cy="5901039"/>
          </a:xfrm>
          <a:prstGeom prst="rect">
            <a:avLst/>
          </a:prstGeom>
          <a:noFill/>
        </p:spPr>
        <p:txBody>
          <a:bodyPr wrap="square">
            <a:spAutoFit/>
          </a:bodyPr>
          <a:lstStyle/>
          <a:p>
            <a:pPr indent="0" algn="l">
              <a:lnSpc>
                <a:spcPct val="150000"/>
              </a:lnSpc>
              <a:buNone/>
            </a:pPr>
            <a:r>
              <a:rPr lang="en-IN" sz="1100" b="1" i="0" dirty="0">
                <a:solidFill>
                  <a:schemeClr val="tx1"/>
                </a:solidFill>
                <a:effectLst/>
                <a:latin typeface="Arial" panose="020B0604020202020204" pitchFamily="34" charset="0"/>
                <a:cs typeface="Arial" panose="020B0604020202020204" pitchFamily="34" charset="0"/>
              </a:rPr>
              <a:t>1. Total Records:</a:t>
            </a:r>
            <a:r>
              <a:rPr lang="en-IN" sz="1100" b="0" i="0" dirty="0">
                <a:solidFill>
                  <a:schemeClr val="tx1"/>
                </a:solidFill>
                <a:effectLst/>
                <a:latin typeface="Arial" panose="020B0604020202020204" pitchFamily="34" charset="0"/>
                <a:cs typeface="Arial" panose="020B0604020202020204" pitchFamily="34" charset="0"/>
              </a:rPr>
              <a:t> The dataset contains 4,000 farm-level records across different states, districts, crops, and seasons.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2. Geographical Coverage:</a:t>
            </a:r>
            <a:r>
              <a:rPr lang="en-IN" sz="1100" b="0" i="0" dirty="0">
                <a:solidFill>
                  <a:schemeClr val="tx1"/>
                </a:solidFill>
                <a:effectLst/>
                <a:latin typeface="Arial" panose="020B0604020202020204" pitchFamily="34" charset="0"/>
                <a:cs typeface="Arial" panose="020B0604020202020204" pitchFamily="34" charset="0"/>
              </a:rPr>
              <a:t> The dataset includes 9 states and 10 districts, providing geographical variation in agricultural activities.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3. Crop Diversity:</a:t>
            </a:r>
            <a:r>
              <a:rPr lang="en-IN" sz="1100" b="0" i="0" dirty="0">
                <a:solidFill>
                  <a:schemeClr val="tx1"/>
                </a:solidFill>
                <a:effectLst/>
                <a:latin typeface="Arial" panose="020B0604020202020204" pitchFamily="34" charset="0"/>
                <a:cs typeface="Arial" panose="020B0604020202020204" pitchFamily="34" charset="0"/>
              </a:rPr>
              <a:t> The dataset contains 8 different crop types, allowing comparison of agricultural performance across crops.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4. Seasonal Coverage:</a:t>
            </a:r>
            <a:r>
              <a:rPr lang="en-IN" sz="1100" b="0" i="0" dirty="0">
                <a:solidFill>
                  <a:schemeClr val="tx1"/>
                </a:solidFill>
                <a:effectLst/>
                <a:latin typeface="Arial" panose="020B0604020202020204" pitchFamily="34" charset="0"/>
                <a:cs typeface="Arial" panose="020B0604020202020204" pitchFamily="34" charset="0"/>
              </a:rPr>
              <a:t> Agricultural activities are recorded across 3 different seasons, enabling seasonal performance analysis.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5. Farm Area:</a:t>
            </a:r>
            <a:r>
              <a:rPr lang="en-IN" sz="1100" b="0" i="0" dirty="0">
                <a:solidFill>
                  <a:schemeClr val="tx1"/>
                </a:solidFill>
                <a:effectLst/>
                <a:latin typeface="Arial" panose="020B0604020202020204" pitchFamily="34" charset="0"/>
                <a:cs typeface="Arial" panose="020B0604020202020204" pitchFamily="34" charset="0"/>
              </a:rPr>
              <a:t> Farm sizes range from 0.50 to 15 hectares, with an average farm area of approximately 7.89 hectares.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6. Rainfall:</a:t>
            </a:r>
            <a:r>
              <a:rPr lang="en-IN" sz="1100" b="0" i="0" dirty="0">
                <a:solidFill>
                  <a:schemeClr val="tx1"/>
                </a:solidFill>
                <a:effectLst/>
                <a:latin typeface="Arial" panose="020B0604020202020204" pitchFamily="34" charset="0"/>
                <a:cs typeface="Arial" panose="020B0604020202020204" pitchFamily="34" charset="0"/>
              </a:rPr>
              <a:t> Average rainfall is approximately 600.74 mm, with values ranging from 80 mm to 1,395.20 mm, indicating substantial variation in rainfall conditions.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7. Temperature:</a:t>
            </a:r>
            <a:r>
              <a:rPr lang="en-IN" sz="1100" b="0" i="0" dirty="0">
                <a:solidFill>
                  <a:schemeClr val="tx1"/>
                </a:solidFill>
                <a:effectLst/>
                <a:latin typeface="Arial" panose="020B0604020202020204" pitchFamily="34" charset="0"/>
                <a:cs typeface="Arial" panose="020B0604020202020204" pitchFamily="34" charset="0"/>
              </a:rPr>
              <a:t> The average temperature is approximately 26.82°C, ranging from 16.20°C to 39.70°C.</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8. Humidity:</a:t>
            </a:r>
            <a:r>
              <a:rPr lang="en-IN" sz="1100" b="0" i="0" dirty="0">
                <a:solidFill>
                  <a:schemeClr val="tx1"/>
                </a:solidFill>
                <a:effectLst/>
                <a:latin typeface="Arial" panose="020B0604020202020204" pitchFamily="34" charset="0"/>
                <a:cs typeface="Arial" panose="020B0604020202020204" pitchFamily="34" charset="0"/>
              </a:rPr>
              <a:t> Average humidity is approximately 63.21%, with observations ranging from 25% to 95%.</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9. Soil Moisture:</a:t>
            </a:r>
            <a:r>
              <a:rPr lang="en-IN" sz="1100" b="0" i="0" dirty="0">
                <a:solidFill>
                  <a:schemeClr val="tx1"/>
                </a:solidFill>
                <a:effectLst/>
                <a:latin typeface="Arial" panose="020B0604020202020204" pitchFamily="34" charset="0"/>
                <a:cs typeface="Arial" panose="020B0604020202020204" pitchFamily="34" charset="0"/>
              </a:rPr>
              <a:t> The average soil moisture level is approximately 26.50%, ranging from 8% to 47%.</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10. Soil pH:</a:t>
            </a:r>
            <a:r>
              <a:rPr lang="en-IN" sz="1100" b="0" i="0" dirty="0">
                <a:solidFill>
                  <a:schemeClr val="tx1"/>
                </a:solidFill>
                <a:effectLst/>
                <a:latin typeface="Arial" panose="020B0604020202020204" pitchFamily="34" charset="0"/>
                <a:cs typeface="Arial" panose="020B0604020202020204" pitchFamily="34" charset="0"/>
              </a:rPr>
              <a:t> The average soil pH is approximately 6.70, with values ranging from 5.20 to 8.40, indicating variation in soil conditions.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11. Fertilizer Usage:</a:t>
            </a:r>
            <a:r>
              <a:rPr lang="en-IN" sz="1100" b="0" i="0" dirty="0">
                <a:solidFill>
                  <a:schemeClr val="tx1"/>
                </a:solidFill>
                <a:effectLst/>
                <a:latin typeface="Arial" panose="020B0604020202020204" pitchFamily="34" charset="0"/>
                <a:cs typeface="Arial" panose="020B0604020202020204" pitchFamily="34" charset="0"/>
              </a:rPr>
              <a:t> Farms use an average of approximately 186.04 kg/ha of fertilizer, with usage ranging from 40 to 400 kg/ha.</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12. Seed Quality:</a:t>
            </a:r>
            <a:r>
              <a:rPr lang="en-IN" sz="1100" b="0" i="0" dirty="0">
                <a:solidFill>
                  <a:schemeClr val="tx1"/>
                </a:solidFill>
                <a:effectLst/>
                <a:latin typeface="Arial" panose="020B0604020202020204" pitchFamily="34" charset="0"/>
                <a:cs typeface="Arial" panose="020B0604020202020204" pitchFamily="34" charset="0"/>
              </a:rPr>
              <a:t> The average seed quality score is approximately 0.83, with scores ranging from 0.50 to 1.00.</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13. Agricultural Yield:</a:t>
            </a:r>
            <a:r>
              <a:rPr lang="en-IN" sz="1100" b="0" i="0" dirty="0">
                <a:solidFill>
                  <a:schemeClr val="tx1"/>
                </a:solidFill>
                <a:effectLst/>
                <a:latin typeface="Arial" panose="020B0604020202020204" pitchFamily="34" charset="0"/>
                <a:cs typeface="Arial" panose="020B0604020202020204" pitchFamily="34" charset="0"/>
              </a:rPr>
              <a:t> Among the 3,968 records with available yield values, the average yield is approximately 5.27 tonnes/ha, with values ranging from 0.30 to 101.44 tonnes/ha.</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14. Production:</a:t>
            </a:r>
            <a:r>
              <a:rPr lang="en-IN" sz="1100" b="0" i="0" dirty="0">
                <a:solidFill>
                  <a:schemeClr val="tx1"/>
                </a:solidFill>
                <a:effectLst/>
                <a:latin typeface="Arial" panose="020B0604020202020204" pitchFamily="34" charset="0"/>
                <a:cs typeface="Arial" panose="020B0604020202020204" pitchFamily="34" charset="0"/>
              </a:rPr>
              <a:t> Average agricultural production is approximately 43.25 tonnes per farm, ranging from 0.15 to 1,424.40 tonnes.</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15. Market Price:</a:t>
            </a:r>
            <a:r>
              <a:rPr lang="en-IN" sz="1100" b="0" i="0" dirty="0">
                <a:solidFill>
                  <a:schemeClr val="tx1"/>
                </a:solidFill>
                <a:effectLst/>
                <a:latin typeface="Arial" panose="020B0604020202020204" pitchFamily="34" charset="0"/>
                <a:cs typeface="Arial" panose="020B0604020202020204" pitchFamily="34" charset="0"/>
              </a:rPr>
              <a:t> The average market price is approximately ₹44,714 per tonne, with prices ranging from ₹2,594 to ₹1,241,000 per tonne, showing considerable variation across the dataset.</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16. Total Cost:</a:t>
            </a:r>
            <a:r>
              <a:rPr lang="en-IN" sz="1100" b="0" i="0" dirty="0">
                <a:solidFill>
                  <a:schemeClr val="tx1"/>
                </a:solidFill>
                <a:effectLst/>
                <a:latin typeface="Arial" panose="020B0604020202020204" pitchFamily="34" charset="0"/>
                <a:cs typeface="Arial" panose="020B0604020202020204" pitchFamily="34" charset="0"/>
              </a:rPr>
              <a:t> The average total agricultural cost is approximately ₹5.26 lakh per farm, with costs ranging from ₹26,826 to ₹13.50 lakh.</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17. Revenue:</a:t>
            </a:r>
            <a:r>
              <a:rPr lang="en-IN" sz="1100" b="0" i="0" dirty="0">
                <a:solidFill>
                  <a:schemeClr val="tx1"/>
                </a:solidFill>
                <a:effectLst/>
                <a:latin typeface="Arial" panose="020B0604020202020204" pitchFamily="34" charset="0"/>
                <a:cs typeface="Arial" panose="020B0604020202020204" pitchFamily="34" charset="0"/>
              </a:rPr>
              <a:t> Farms generate an average revenue of approximately ₹6.38 lakh, with revenue ranging from ₹6,107 to ₹50.80 lakh.</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18. Profitability:</a:t>
            </a:r>
            <a:r>
              <a:rPr lang="en-IN" sz="1100" b="0" i="0" dirty="0">
                <a:solidFill>
                  <a:schemeClr val="tx1"/>
                </a:solidFill>
                <a:effectLst/>
                <a:latin typeface="Arial" panose="020B0604020202020204" pitchFamily="34" charset="0"/>
                <a:cs typeface="Arial" panose="020B0604020202020204" pitchFamily="34" charset="0"/>
              </a:rPr>
              <a:t> The average profit is approximately ₹1.12 lakh per farm. Profit ranges from a loss of approximately ₹10.19 lakh to a maximum profit of approximately ₹43.45 lakh, indicating significant variation in financial performance.</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19. Water Usage:</a:t>
            </a:r>
            <a:r>
              <a:rPr lang="en-IN" sz="1100" b="0" i="0" dirty="0">
                <a:solidFill>
                  <a:schemeClr val="tx1"/>
                </a:solidFill>
                <a:effectLst/>
                <a:latin typeface="Arial" panose="020B0604020202020204" pitchFamily="34" charset="0"/>
                <a:cs typeface="Arial" panose="020B0604020202020204" pitchFamily="34" charset="0"/>
              </a:rPr>
              <a:t> Average water usage is approximately 6,045.57 m³ per farm, ranging from 128 to 40,902 m³.</a:t>
            </a:r>
            <a:br>
              <a:rPr lang="en-IN" sz="1100" b="0" i="0" dirty="0">
                <a:solidFill>
                  <a:schemeClr val="tx1"/>
                </a:solidFill>
                <a:effectLst/>
                <a:latin typeface="Arial" panose="020B0604020202020204" pitchFamily="34" charset="0"/>
                <a:cs typeface="Arial" panose="020B0604020202020204" pitchFamily="34" charset="0"/>
              </a:rPr>
            </a:br>
            <a:r>
              <a:rPr lang="en-IN" sz="1100" b="1" i="0" dirty="0">
                <a:solidFill>
                  <a:schemeClr val="tx1"/>
                </a:solidFill>
                <a:effectLst/>
                <a:latin typeface="Arial" panose="020B0604020202020204" pitchFamily="34" charset="0"/>
                <a:cs typeface="Arial" panose="020B0604020202020204" pitchFamily="34" charset="0"/>
              </a:rPr>
              <a:t>20. Disease &amp; Pest Risk:</a:t>
            </a:r>
            <a:r>
              <a:rPr lang="en-IN" sz="1100" b="0" i="0" dirty="0">
                <a:solidFill>
                  <a:schemeClr val="tx1"/>
                </a:solidFill>
                <a:effectLst/>
                <a:latin typeface="Arial" panose="020B0604020202020204" pitchFamily="34" charset="0"/>
                <a:cs typeface="Arial" panose="020B0604020202020204" pitchFamily="34" charset="0"/>
              </a:rPr>
              <a:t> The average disease and pest risk is approximately 46.37%, with values ranging from 5% to 88.90%, indicating considerable variation in agricultural risk conditions.</a:t>
            </a:r>
            <a:endParaRPr lang="en-IN" sz="1100" b="0" i="0" dirty="0">
              <a:solidFill>
                <a:srgbClr val="1F1F1F"/>
              </a:solidFill>
              <a:effectLst/>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409D8E6-4DFF-08AE-8B17-BDB51622972C}"/>
              </a:ext>
            </a:extLst>
          </p:cNvPr>
          <p:cNvSpPr txBox="1"/>
          <p:nvPr/>
        </p:nvSpPr>
        <p:spPr>
          <a:xfrm>
            <a:off x="4012659" y="408548"/>
            <a:ext cx="6099242"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Key Findings from above Descriptive Statistics:</a:t>
            </a:r>
            <a:endParaRPr lang="en-IN" sz="1400" b="0" i="0" dirty="0">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8B70F9ED-1005-530E-EDB1-EC6ED5DA4A3F}"/>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(OUTLIER DETECTION AND VISUALIZATION)</a:t>
            </a:r>
            <a:endParaRPr lang="en-IN" sz="1800" b="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4ABFB3D-8C05-CC1E-38F2-0D45D2B38815}"/>
              </a:ext>
            </a:extLst>
          </p:cNvPr>
          <p:cNvPicPr>
            <a:picLocks noChangeAspect="1"/>
          </p:cNvPicPr>
          <p:nvPr/>
        </p:nvPicPr>
        <p:blipFill>
          <a:blip r:embed="rId3"/>
          <a:stretch>
            <a:fillRect/>
          </a:stretch>
        </p:blipFill>
        <p:spPr>
          <a:xfrm>
            <a:off x="3563183" y="1940353"/>
            <a:ext cx="5065634" cy="3149309"/>
          </a:xfrm>
          <a:prstGeom prst="rect">
            <a:avLst/>
          </a:prstGeom>
          <a:ln>
            <a:solidFill>
              <a:schemeClr val="tx1"/>
            </a:solidFill>
          </a:ln>
        </p:spPr>
      </p:pic>
      <p:sp>
        <p:nvSpPr>
          <p:cNvPr id="13" name="TextBox 12">
            <a:extLst>
              <a:ext uri="{FF2B5EF4-FFF2-40B4-BE49-F238E27FC236}">
                <a16:creationId xmlns:a16="http://schemas.microsoft.com/office/drawing/2014/main" id="{79CBD20C-E4A3-8E89-B45B-466AF3F96DD9}"/>
              </a:ext>
            </a:extLst>
          </p:cNvPr>
          <p:cNvSpPr txBox="1"/>
          <p:nvPr/>
        </p:nvSpPr>
        <p:spPr>
          <a:xfrm>
            <a:off x="3965747" y="1277467"/>
            <a:ext cx="4103454"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Number of Outliers in each Numeric Columns:</a:t>
            </a:r>
            <a:endParaRPr lang="en-IN" sz="1400" b="0" i="0" dirty="0">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7D2E9-B79E-9E82-CCFF-58AB8BFB49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ED0783-598C-F822-2B38-992A7F53BF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6DF4F1D-3BB2-6EB0-63EC-BF9E9B2CAE25}"/>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31A2823B-4A39-4EC3-DD58-F66970022A8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FF6D306-6E24-7D47-CF16-BDA80D73F4F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5718DA3E-BEC7-5597-13DB-47DC6CADD9D4}"/>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(OUTLIER DETECTION AND VISUALIZATION)</a:t>
            </a:r>
            <a:endParaRPr lang="en-IN" sz="1800" b="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3523639-F599-10C0-79C0-0D83BA81A7E1}"/>
              </a:ext>
            </a:extLst>
          </p:cNvPr>
          <p:cNvPicPr>
            <a:picLocks noChangeAspect="1"/>
          </p:cNvPicPr>
          <p:nvPr/>
        </p:nvPicPr>
        <p:blipFill>
          <a:blip r:embed="rId3"/>
          <a:stretch>
            <a:fillRect/>
          </a:stretch>
        </p:blipFill>
        <p:spPr>
          <a:xfrm>
            <a:off x="389075" y="1056599"/>
            <a:ext cx="4015532" cy="2815159"/>
          </a:xfrm>
          <a:prstGeom prst="rect">
            <a:avLst/>
          </a:prstGeom>
          <a:ln>
            <a:solidFill>
              <a:schemeClr val="tx1"/>
            </a:solidFill>
          </a:ln>
        </p:spPr>
      </p:pic>
      <p:pic>
        <p:nvPicPr>
          <p:cNvPr id="6" name="Picture 5">
            <a:extLst>
              <a:ext uri="{FF2B5EF4-FFF2-40B4-BE49-F238E27FC236}">
                <a16:creationId xmlns:a16="http://schemas.microsoft.com/office/drawing/2014/main" id="{A040E7C3-77E4-760F-2F7C-EEA4C704AA93}"/>
              </a:ext>
            </a:extLst>
          </p:cNvPr>
          <p:cNvPicPr>
            <a:picLocks noChangeAspect="1"/>
          </p:cNvPicPr>
          <p:nvPr/>
        </p:nvPicPr>
        <p:blipFill>
          <a:blip r:embed="rId4"/>
          <a:stretch>
            <a:fillRect/>
          </a:stretch>
        </p:blipFill>
        <p:spPr>
          <a:xfrm>
            <a:off x="7597302" y="915187"/>
            <a:ext cx="4273715" cy="2956571"/>
          </a:xfrm>
          <a:prstGeom prst="rect">
            <a:avLst/>
          </a:prstGeom>
          <a:ln>
            <a:solidFill>
              <a:schemeClr val="tx1"/>
            </a:solidFill>
          </a:ln>
        </p:spPr>
      </p:pic>
      <p:pic>
        <p:nvPicPr>
          <p:cNvPr id="9" name="Picture 8">
            <a:extLst>
              <a:ext uri="{FF2B5EF4-FFF2-40B4-BE49-F238E27FC236}">
                <a16:creationId xmlns:a16="http://schemas.microsoft.com/office/drawing/2014/main" id="{60BBF327-44E5-709B-62F9-8E9D9B561A18}"/>
              </a:ext>
            </a:extLst>
          </p:cNvPr>
          <p:cNvPicPr>
            <a:picLocks noChangeAspect="1"/>
          </p:cNvPicPr>
          <p:nvPr/>
        </p:nvPicPr>
        <p:blipFill>
          <a:blip r:embed="rId5"/>
          <a:stretch>
            <a:fillRect/>
          </a:stretch>
        </p:blipFill>
        <p:spPr>
          <a:xfrm>
            <a:off x="3933268" y="3940320"/>
            <a:ext cx="4168411" cy="2831644"/>
          </a:xfrm>
          <a:prstGeom prst="rect">
            <a:avLst/>
          </a:prstGeom>
          <a:ln>
            <a:solidFill>
              <a:schemeClr val="tx1"/>
            </a:solidFill>
          </a:ln>
        </p:spPr>
      </p:pic>
    </p:spTree>
    <p:extLst>
      <p:ext uri="{BB962C8B-B14F-4D97-AF65-F5344CB8AC3E}">
        <p14:creationId xmlns:p14="http://schemas.microsoft.com/office/powerpoint/2010/main" val="152715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0F97D-9326-9814-8489-9FB4870AEC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6E482C-4602-38CC-57A4-AC2A9DE766E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4CFAE4-127C-3B28-305C-2B3AF1EF07D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25ADD389-0129-DCFF-6533-854B43BA998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556BED7-6920-C022-6C3F-A844A549CE4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A9F2E544-CAAC-A692-C882-C3440ED266BD}"/>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(OUTLIER DETECTION AND VISUALIZATION)</a:t>
            </a:r>
            <a:endParaRPr lang="en-IN" sz="1800" b="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FBF16826-25B3-EF75-45D6-7D0AF1E99C90}"/>
              </a:ext>
            </a:extLst>
          </p:cNvPr>
          <p:cNvPicPr>
            <a:picLocks noChangeAspect="1"/>
          </p:cNvPicPr>
          <p:nvPr/>
        </p:nvPicPr>
        <p:blipFill>
          <a:blip r:embed="rId3"/>
          <a:stretch>
            <a:fillRect/>
          </a:stretch>
        </p:blipFill>
        <p:spPr>
          <a:xfrm>
            <a:off x="279323" y="1045457"/>
            <a:ext cx="3884116" cy="2749336"/>
          </a:xfrm>
          <a:prstGeom prst="rect">
            <a:avLst/>
          </a:prstGeom>
          <a:ln>
            <a:solidFill>
              <a:schemeClr val="tx1"/>
            </a:solidFill>
          </a:ln>
        </p:spPr>
      </p:pic>
      <p:pic>
        <p:nvPicPr>
          <p:cNvPr id="19" name="Picture 18">
            <a:extLst>
              <a:ext uri="{FF2B5EF4-FFF2-40B4-BE49-F238E27FC236}">
                <a16:creationId xmlns:a16="http://schemas.microsoft.com/office/drawing/2014/main" id="{C1FC3C80-EC2F-ADDE-C15D-6524357C4132}"/>
              </a:ext>
            </a:extLst>
          </p:cNvPr>
          <p:cNvPicPr>
            <a:picLocks noChangeAspect="1"/>
          </p:cNvPicPr>
          <p:nvPr/>
        </p:nvPicPr>
        <p:blipFill>
          <a:blip r:embed="rId4"/>
          <a:stretch>
            <a:fillRect/>
          </a:stretch>
        </p:blipFill>
        <p:spPr>
          <a:xfrm>
            <a:off x="4040883" y="3871948"/>
            <a:ext cx="3953181" cy="2861683"/>
          </a:xfrm>
          <a:prstGeom prst="rect">
            <a:avLst/>
          </a:prstGeom>
          <a:ln>
            <a:solidFill>
              <a:schemeClr val="tx1"/>
            </a:solidFill>
          </a:ln>
        </p:spPr>
      </p:pic>
      <p:pic>
        <p:nvPicPr>
          <p:cNvPr id="21" name="Picture 20">
            <a:extLst>
              <a:ext uri="{FF2B5EF4-FFF2-40B4-BE49-F238E27FC236}">
                <a16:creationId xmlns:a16="http://schemas.microsoft.com/office/drawing/2014/main" id="{47803580-BFD4-56A3-47BE-52529E67DD77}"/>
              </a:ext>
            </a:extLst>
          </p:cNvPr>
          <p:cNvPicPr>
            <a:picLocks noChangeAspect="1"/>
          </p:cNvPicPr>
          <p:nvPr/>
        </p:nvPicPr>
        <p:blipFill>
          <a:blip r:embed="rId5"/>
          <a:stretch>
            <a:fillRect/>
          </a:stretch>
        </p:blipFill>
        <p:spPr>
          <a:xfrm>
            <a:off x="7494777" y="933110"/>
            <a:ext cx="4328082" cy="2861683"/>
          </a:xfrm>
          <a:prstGeom prst="rect">
            <a:avLst/>
          </a:prstGeom>
          <a:ln>
            <a:solidFill>
              <a:schemeClr val="tx1"/>
            </a:solidFill>
          </a:ln>
        </p:spPr>
      </p:pic>
    </p:spTree>
    <p:extLst>
      <p:ext uri="{BB962C8B-B14F-4D97-AF65-F5344CB8AC3E}">
        <p14:creationId xmlns:p14="http://schemas.microsoft.com/office/powerpoint/2010/main" val="239787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9E748-4838-D677-3157-61DFD765E0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32A026-E5AB-16D0-B50F-A66693CF9E9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9403AAC-F11E-8119-1829-0332E932F7A8}"/>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FC642D5D-5F78-A0E6-63B1-A7C37821A4D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088BF04-6736-1F63-B5C1-11A727D15AD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59F71BA3-C221-F67A-8531-714A02CA57F9}"/>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(OUTLIER DETECTION AND VISUALIZATION)</a:t>
            </a:r>
            <a:endParaRPr lang="en-IN" sz="1800" b="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0E63084-F715-4CCE-4B84-DA9F5EB5B769}"/>
              </a:ext>
            </a:extLst>
          </p:cNvPr>
          <p:cNvPicPr>
            <a:picLocks noChangeAspect="1"/>
          </p:cNvPicPr>
          <p:nvPr/>
        </p:nvPicPr>
        <p:blipFill>
          <a:blip r:embed="rId3"/>
          <a:stretch>
            <a:fillRect/>
          </a:stretch>
        </p:blipFill>
        <p:spPr>
          <a:xfrm>
            <a:off x="3838135" y="3874458"/>
            <a:ext cx="4112546" cy="2878051"/>
          </a:xfrm>
          <a:prstGeom prst="rect">
            <a:avLst/>
          </a:prstGeom>
          <a:ln>
            <a:solidFill>
              <a:schemeClr val="tx1"/>
            </a:solidFill>
          </a:ln>
        </p:spPr>
      </p:pic>
      <p:pic>
        <p:nvPicPr>
          <p:cNvPr id="10" name="Picture 9">
            <a:extLst>
              <a:ext uri="{FF2B5EF4-FFF2-40B4-BE49-F238E27FC236}">
                <a16:creationId xmlns:a16="http://schemas.microsoft.com/office/drawing/2014/main" id="{17FD5810-402E-9162-A589-66B48CDE4708}"/>
              </a:ext>
            </a:extLst>
          </p:cNvPr>
          <p:cNvPicPr>
            <a:picLocks noChangeAspect="1"/>
          </p:cNvPicPr>
          <p:nvPr/>
        </p:nvPicPr>
        <p:blipFill>
          <a:blip r:embed="rId4"/>
          <a:stretch>
            <a:fillRect/>
          </a:stretch>
        </p:blipFill>
        <p:spPr>
          <a:xfrm>
            <a:off x="7682192" y="951295"/>
            <a:ext cx="4112546" cy="2878051"/>
          </a:xfrm>
          <a:prstGeom prst="rect">
            <a:avLst/>
          </a:prstGeom>
          <a:ln>
            <a:solidFill>
              <a:schemeClr val="tx1"/>
            </a:solidFill>
          </a:ln>
        </p:spPr>
      </p:pic>
      <p:pic>
        <p:nvPicPr>
          <p:cNvPr id="12" name="Picture 11">
            <a:extLst>
              <a:ext uri="{FF2B5EF4-FFF2-40B4-BE49-F238E27FC236}">
                <a16:creationId xmlns:a16="http://schemas.microsoft.com/office/drawing/2014/main" id="{14A91082-B526-19C6-08D1-48584F862AD2}"/>
              </a:ext>
            </a:extLst>
          </p:cNvPr>
          <p:cNvPicPr>
            <a:picLocks noChangeAspect="1"/>
          </p:cNvPicPr>
          <p:nvPr/>
        </p:nvPicPr>
        <p:blipFill>
          <a:blip r:embed="rId5"/>
          <a:stretch>
            <a:fillRect/>
          </a:stretch>
        </p:blipFill>
        <p:spPr>
          <a:xfrm>
            <a:off x="375307" y="1055450"/>
            <a:ext cx="4020037" cy="2773896"/>
          </a:xfrm>
          <a:prstGeom prst="rect">
            <a:avLst/>
          </a:prstGeom>
          <a:ln>
            <a:solidFill>
              <a:schemeClr val="tx1"/>
            </a:solidFill>
          </a:ln>
        </p:spPr>
      </p:pic>
    </p:spTree>
    <p:extLst>
      <p:ext uri="{BB962C8B-B14F-4D97-AF65-F5344CB8AC3E}">
        <p14:creationId xmlns:p14="http://schemas.microsoft.com/office/powerpoint/2010/main" val="285865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80D2E-572E-391D-36BC-EA86A55D58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4C0E3DA-1D30-4AE5-DB45-9B800C1C24F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1596480-3EE4-85A2-FAED-19A4435AFD25}"/>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177FAB2F-6AF1-1B43-F101-C20AF600262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D822D4B-61FF-5A4D-A20F-9076B70A175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FA3EADCF-3216-996F-B361-8D5CF3FE5A3A}"/>
              </a:ext>
            </a:extLst>
          </p:cNvPr>
          <p:cNvSpPr txBox="1">
            <a:spLocks/>
          </p:cNvSpPr>
          <p:nvPr/>
        </p:nvSpPr>
        <p:spPr>
          <a:xfrm>
            <a:off x="3482502" y="584136"/>
            <a:ext cx="6403290"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(OUTLIER DETECTION AND VISUALIZATION)</a:t>
            </a:r>
            <a:endParaRPr lang="en-IN" sz="1800" b="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A9989D0D-E57E-7F6C-9BCA-F02F05CBBFB7}"/>
              </a:ext>
            </a:extLst>
          </p:cNvPr>
          <p:cNvSpPr txBox="1"/>
          <p:nvPr/>
        </p:nvSpPr>
        <p:spPr>
          <a:xfrm>
            <a:off x="675957" y="2266492"/>
            <a:ext cx="9139252" cy="1477328"/>
          </a:xfrm>
          <a:prstGeom prst="rect">
            <a:avLst/>
          </a:prstGeom>
          <a:noFill/>
        </p:spPr>
        <p:txBody>
          <a:bodyPr wrap="square">
            <a:spAutoFit/>
          </a:bodyPr>
          <a:lstStyle/>
          <a:p>
            <a:pPr algn="just"/>
            <a:r>
              <a:rPr lang="en-IN" dirty="0">
                <a:latin typeface="Arial" panose="020B0604020202020204" pitchFamily="34" charset="0"/>
                <a:cs typeface="Arial" panose="020B0604020202020204" pitchFamily="34" charset="0"/>
              </a:rPr>
              <a:t>Potential outliers were identified using boxplots. The observations are based on the values lying beyond the boxplot whiskers. These observations were used for screening purposes only, and no outliers were removed because extreme values may represent plausible agricultural variations and the objective was to observe unusual values rather than remove observations without evidence of data-entry errors.</a:t>
            </a:r>
          </a:p>
        </p:txBody>
      </p:sp>
      <p:sp>
        <p:nvSpPr>
          <p:cNvPr id="11" name="TextBox 10">
            <a:extLst>
              <a:ext uri="{FF2B5EF4-FFF2-40B4-BE49-F238E27FC236}">
                <a16:creationId xmlns:a16="http://schemas.microsoft.com/office/drawing/2014/main" id="{84067868-414D-ADFD-778F-3CD77932C362}"/>
              </a:ext>
            </a:extLst>
          </p:cNvPr>
          <p:cNvSpPr txBox="1"/>
          <p:nvPr/>
        </p:nvSpPr>
        <p:spPr>
          <a:xfrm>
            <a:off x="675957" y="1656147"/>
            <a:ext cx="381809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Observation of Boxplot Analysis:</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099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5F35D-402D-60D4-E66B-7B884207DA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2790C7-B9E3-1AE2-FD83-8215B999CC2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8F10D99-6919-4471-DD8B-6B1BDCB1FE37}"/>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89E32D34-47CF-482C-0C82-22B405F791A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BD0418-AF79-69A1-5789-E55F13177B6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itle 3">
            <a:extLst>
              <a:ext uri="{FF2B5EF4-FFF2-40B4-BE49-F238E27FC236}">
                <a16:creationId xmlns:a16="http://schemas.microsoft.com/office/drawing/2014/main" id="{88FB8F20-9900-B223-1A5B-5341806F1F53}"/>
              </a:ext>
            </a:extLst>
          </p:cNvPr>
          <p:cNvSpPr txBox="1">
            <a:spLocks/>
          </p:cNvSpPr>
          <p:nvPr/>
        </p:nvSpPr>
        <p:spPr>
          <a:xfrm>
            <a:off x="4605179" y="584136"/>
            <a:ext cx="2981643"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(FEATURE CREATION)</a:t>
            </a:r>
            <a:endParaRPr lang="en-IN" sz="1800" b="0" dirty="0">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BF1DB7B2-078D-A091-6A90-ABF46F53DBFB}"/>
              </a:ext>
            </a:extLst>
          </p:cNvPr>
          <p:cNvPicPr>
            <a:picLocks noChangeAspect="1"/>
          </p:cNvPicPr>
          <p:nvPr/>
        </p:nvPicPr>
        <p:blipFill>
          <a:blip r:embed="rId3"/>
          <a:stretch>
            <a:fillRect/>
          </a:stretch>
        </p:blipFill>
        <p:spPr>
          <a:xfrm>
            <a:off x="506733" y="1608410"/>
            <a:ext cx="2972058" cy="3071126"/>
          </a:xfrm>
          <a:prstGeom prst="rect">
            <a:avLst/>
          </a:prstGeom>
          <a:ln>
            <a:solidFill>
              <a:schemeClr val="tx1"/>
            </a:solidFill>
          </a:ln>
        </p:spPr>
      </p:pic>
      <p:pic>
        <p:nvPicPr>
          <p:cNvPr id="16" name="Picture 15">
            <a:extLst>
              <a:ext uri="{FF2B5EF4-FFF2-40B4-BE49-F238E27FC236}">
                <a16:creationId xmlns:a16="http://schemas.microsoft.com/office/drawing/2014/main" id="{4F24785D-7B10-BC33-2276-1A1D3C2B77F0}"/>
              </a:ext>
            </a:extLst>
          </p:cNvPr>
          <p:cNvPicPr>
            <a:picLocks noChangeAspect="1"/>
          </p:cNvPicPr>
          <p:nvPr/>
        </p:nvPicPr>
        <p:blipFill>
          <a:blip r:embed="rId4"/>
          <a:stretch>
            <a:fillRect/>
          </a:stretch>
        </p:blipFill>
        <p:spPr>
          <a:xfrm>
            <a:off x="3998009" y="1631272"/>
            <a:ext cx="3414056" cy="3025402"/>
          </a:xfrm>
          <a:prstGeom prst="rect">
            <a:avLst/>
          </a:prstGeom>
          <a:ln>
            <a:solidFill>
              <a:schemeClr val="tx1"/>
            </a:solidFill>
          </a:ln>
        </p:spPr>
      </p:pic>
      <p:pic>
        <p:nvPicPr>
          <p:cNvPr id="18" name="Picture 17">
            <a:extLst>
              <a:ext uri="{FF2B5EF4-FFF2-40B4-BE49-F238E27FC236}">
                <a16:creationId xmlns:a16="http://schemas.microsoft.com/office/drawing/2014/main" id="{BB1F4741-6332-AD7A-6E67-C217D9250127}"/>
              </a:ext>
            </a:extLst>
          </p:cNvPr>
          <p:cNvPicPr>
            <a:picLocks noChangeAspect="1"/>
          </p:cNvPicPr>
          <p:nvPr/>
        </p:nvPicPr>
        <p:blipFill>
          <a:blip r:embed="rId5"/>
          <a:stretch>
            <a:fillRect/>
          </a:stretch>
        </p:blipFill>
        <p:spPr>
          <a:xfrm>
            <a:off x="7931284" y="1608410"/>
            <a:ext cx="3589331" cy="3071126"/>
          </a:xfrm>
          <a:prstGeom prst="rect">
            <a:avLst/>
          </a:prstGeom>
          <a:ln>
            <a:solidFill>
              <a:schemeClr val="tx1"/>
            </a:solidFill>
          </a:ln>
        </p:spPr>
      </p:pic>
      <p:sp>
        <p:nvSpPr>
          <p:cNvPr id="28" name="TextBox 27">
            <a:extLst>
              <a:ext uri="{FF2B5EF4-FFF2-40B4-BE49-F238E27FC236}">
                <a16:creationId xmlns:a16="http://schemas.microsoft.com/office/drawing/2014/main" id="{6641043E-D65C-1A11-1C6E-4CA8F200C2D6}"/>
              </a:ext>
            </a:extLst>
          </p:cNvPr>
          <p:cNvSpPr txBox="1"/>
          <p:nvPr/>
        </p:nvSpPr>
        <p:spPr>
          <a:xfrm>
            <a:off x="1188661" y="1159073"/>
            <a:ext cx="1608202"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Profit Margin (%)</a:t>
            </a:r>
            <a:endParaRPr lang="en-IN" sz="1400" b="0" i="0" dirty="0">
              <a:solidFill>
                <a:schemeClr val="tx1"/>
              </a:solidFill>
              <a:effectLst/>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C72AD13C-545E-3666-1494-305BFAB5AD12}"/>
              </a:ext>
            </a:extLst>
          </p:cNvPr>
          <p:cNvSpPr txBox="1"/>
          <p:nvPr/>
        </p:nvSpPr>
        <p:spPr>
          <a:xfrm>
            <a:off x="4843236" y="1156162"/>
            <a:ext cx="1723601"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Profit </a:t>
            </a:r>
            <a:r>
              <a:rPr lang="en-IN" sz="1400" b="1" dirty="0">
                <a:latin typeface="Arial" panose="020B0604020202020204" pitchFamily="34" charset="0"/>
                <a:cs typeface="Arial" panose="020B0604020202020204" pitchFamily="34" charset="0"/>
              </a:rPr>
              <a:t>Per Hectare</a:t>
            </a:r>
            <a:endParaRPr lang="en-IN" sz="1400" b="0" i="0" dirty="0">
              <a:solidFill>
                <a:schemeClr val="tx1"/>
              </a:solidFill>
              <a:effectLst/>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4927CCAC-8D53-4FDF-9F02-7E2D2E744148}"/>
              </a:ext>
            </a:extLst>
          </p:cNvPr>
          <p:cNvSpPr txBox="1"/>
          <p:nvPr/>
        </p:nvSpPr>
        <p:spPr>
          <a:xfrm>
            <a:off x="8838097" y="1164460"/>
            <a:ext cx="2095390"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Revenue Per Hectare</a:t>
            </a:r>
            <a:endParaRPr lang="en-IN" sz="1400" b="0" i="0" dirty="0">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160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FD5DB-1BBA-52B4-8F2C-1B257D17B3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1C01EF-810A-7619-FE58-4BAFEE8A184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E2E9424-DB76-E95B-DA6D-30BBBB62AE97}"/>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140D6505-8DEA-6AE1-0A2A-70F64BDB7AB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16C715F-8A40-18F1-8088-E4B5EAF0B1A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C402B1D-2539-7965-4985-2C91ECE8A54A}"/>
              </a:ext>
            </a:extLst>
          </p:cNvPr>
          <p:cNvPicPr>
            <a:picLocks noChangeAspect="1"/>
          </p:cNvPicPr>
          <p:nvPr/>
        </p:nvPicPr>
        <p:blipFill>
          <a:blip r:embed="rId3"/>
          <a:stretch>
            <a:fillRect/>
          </a:stretch>
        </p:blipFill>
        <p:spPr>
          <a:xfrm>
            <a:off x="675957" y="1608410"/>
            <a:ext cx="3566469" cy="3063505"/>
          </a:xfrm>
          <a:prstGeom prst="rect">
            <a:avLst/>
          </a:prstGeom>
          <a:ln>
            <a:solidFill>
              <a:schemeClr val="tx1"/>
            </a:solidFill>
          </a:ln>
        </p:spPr>
      </p:pic>
      <p:pic>
        <p:nvPicPr>
          <p:cNvPr id="10" name="Picture 9">
            <a:extLst>
              <a:ext uri="{FF2B5EF4-FFF2-40B4-BE49-F238E27FC236}">
                <a16:creationId xmlns:a16="http://schemas.microsoft.com/office/drawing/2014/main" id="{90368553-DDE0-52C8-74C8-338B290904BF}"/>
              </a:ext>
            </a:extLst>
          </p:cNvPr>
          <p:cNvPicPr>
            <a:picLocks noChangeAspect="1"/>
          </p:cNvPicPr>
          <p:nvPr/>
        </p:nvPicPr>
        <p:blipFill>
          <a:blip r:embed="rId4"/>
          <a:stretch>
            <a:fillRect/>
          </a:stretch>
        </p:blipFill>
        <p:spPr>
          <a:xfrm>
            <a:off x="4710651" y="1608410"/>
            <a:ext cx="2530059" cy="3063505"/>
          </a:xfrm>
          <a:prstGeom prst="rect">
            <a:avLst/>
          </a:prstGeom>
          <a:ln>
            <a:solidFill>
              <a:schemeClr val="tx1"/>
            </a:solidFill>
          </a:ln>
        </p:spPr>
      </p:pic>
      <p:pic>
        <p:nvPicPr>
          <p:cNvPr id="12" name="Picture 11">
            <a:extLst>
              <a:ext uri="{FF2B5EF4-FFF2-40B4-BE49-F238E27FC236}">
                <a16:creationId xmlns:a16="http://schemas.microsoft.com/office/drawing/2014/main" id="{67CA28E8-8C5C-1B17-EBF7-1C5CB8A5A37C}"/>
              </a:ext>
            </a:extLst>
          </p:cNvPr>
          <p:cNvPicPr>
            <a:picLocks noChangeAspect="1"/>
          </p:cNvPicPr>
          <p:nvPr/>
        </p:nvPicPr>
        <p:blipFill>
          <a:blip r:embed="rId5"/>
          <a:stretch>
            <a:fillRect/>
          </a:stretch>
        </p:blipFill>
        <p:spPr>
          <a:xfrm>
            <a:off x="7708935" y="1616030"/>
            <a:ext cx="3657917" cy="3048264"/>
          </a:xfrm>
          <a:prstGeom prst="rect">
            <a:avLst/>
          </a:prstGeom>
          <a:ln>
            <a:solidFill>
              <a:schemeClr val="tx1"/>
            </a:solidFill>
          </a:ln>
        </p:spPr>
      </p:pic>
      <p:sp>
        <p:nvSpPr>
          <p:cNvPr id="13" name="Title 3">
            <a:extLst>
              <a:ext uri="{FF2B5EF4-FFF2-40B4-BE49-F238E27FC236}">
                <a16:creationId xmlns:a16="http://schemas.microsoft.com/office/drawing/2014/main" id="{2758AAAC-B2E0-9383-95ED-115285D6A63D}"/>
              </a:ext>
            </a:extLst>
          </p:cNvPr>
          <p:cNvSpPr txBox="1">
            <a:spLocks/>
          </p:cNvSpPr>
          <p:nvPr/>
        </p:nvSpPr>
        <p:spPr>
          <a:xfrm>
            <a:off x="4605179" y="584136"/>
            <a:ext cx="2981643"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(FEATURE CREATION)</a:t>
            </a:r>
            <a:endParaRPr lang="en-IN" sz="1800" b="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664D3167-59AE-B3EF-4A8E-AA5C2B6E0B29}"/>
              </a:ext>
            </a:extLst>
          </p:cNvPr>
          <p:cNvSpPr txBox="1"/>
          <p:nvPr/>
        </p:nvSpPr>
        <p:spPr>
          <a:xfrm>
            <a:off x="1574917" y="1159073"/>
            <a:ext cx="1768548"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Cost Per Hectare</a:t>
            </a:r>
            <a:endParaRPr lang="en-IN" sz="1400" b="0" i="0" dirty="0">
              <a:solidFill>
                <a:schemeClr val="tx1"/>
              </a:solidFill>
              <a:effectLst/>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1A064F96-C412-7DB8-4863-8D4148850A84}"/>
              </a:ext>
            </a:extLst>
          </p:cNvPr>
          <p:cNvSpPr txBox="1"/>
          <p:nvPr/>
        </p:nvSpPr>
        <p:spPr>
          <a:xfrm>
            <a:off x="5494280" y="1159073"/>
            <a:ext cx="962800"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ROI (%)</a:t>
            </a:r>
            <a:endParaRPr lang="en-IN" sz="1400" b="0" i="0" dirty="0">
              <a:solidFill>
                <a:schemeClr val="tx1"/>
              </a:solidFill>
              <a:effectLst/>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E7CC4134-9CC6-008B-355C-2B7C0BD6E180}"/>
              </a:ext>
            </a:extLst>
          </p:cNvPr>
          <p:cNvSpPr txBox="1"/>
          <p:nvPr/>
        </p:nvSpPr>
        <p:spPr>
          <a:xfrm>
            <a:off x="8653619" y="1159073"/>
            <a:ext cx="2066262" cy="375552"/>
          </a:xfrm>
          <a:prstGeom prst="rect">
            <a:avLst/>
          </a:prstGeom>
          <a:noFill/>
        </p:spPr>
        <p:txBody>
          <a:bodyPr wrap="square">
            <a:spAutoFit/>
          </a:bodyPr>
          <a:lstStyle/>
          <a:p>
            <a:pPr indent="0" algn="l">
              <a:lnSpc>
                <a:spcPct val="150000"/>
              </a:lnSpc>
              <a:buNone/>
            </a:pPr>
            <a:r>
              <a:rPr lang="en-IN" sz="1400" b="1" i="0" dirty="0">
                <a:solidFill>
                  <a:schemeClr val="tx1"/>
                </a:solidFill>
                <a:effectLst/>
                <a:latin typeface="Arial" panose="020B0604020202020204" pitchFamily="34" charset="0"/>
                <a:cs typeface="Arial" panose="020B0604020202020204" pitchFamily="34" charset="0"/>
              </a:rPr>
              <a:t>Water Used Per Tonne</a:t>
            </a:r>
            <a:endParaRPr lang="en-IN" sz="1400" b="0" i="0" dirty="0">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631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EE3AB-4F11-AB09-0587-2066A10D99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DC5BCF-88D6-2B9D-AAE3-25EDF20D31C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02C3459-6D16-0FF1-48FC-F91223DE0BA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1BCCF8A3-2D3E-ABF1-D208-8DB3793458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102746D-70F0-055F-2FB5-B7775986787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D858B282-0C0D-8D23-5FA9-C9B7E1420B6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764DFFF-A89A-F54B-044F-1801F64CCF64}"/>
              </a:ext>
            </a:extLst>
          </p:cNvPr>
          <p:cNvSpPr txBox="1"/>
          <p:nvPr/>
        </p:nvSpPr>
        <p:spPr>
          <a:xfrm>
            <a:off x="675957" y="1090705"/>
            <a:ext cx="5552610"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Yield by Season</a:t>
            </a:r>
          </a:p>
          <a:p>
            <a:r>
              <a:rPr lang="en-IN" sz="1600" b="1" dirty="0">
                <a:latin typeface="Arial" panose="020B0604020202020204" pitchFamily="34" charset="0"/>
                <a:cs typeface="Arial" panose="020B0604020202020204" pitchFamily="34" charset="0"/>
              </a:rPr>
              <a:t>TO FIND: Which season has the highest average yield?</a:t>
            </a:r>
            <a:endParaRPr lang="en-IN" sz="16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CA0E0D6-FE45-C8C0-8F04-8009040C5F84}"/>
              </a:ext>
            </a:extLst>
          </p:cNvPr>
          <p:cNvPicPr>
            <a:picLocks noChangeAspect="1"/>
          </p:cNvPicPr>
          <p:nvPr/>
        </p:nvPicPr>
        <p:blipFill>
          <a:blip r:embed="rId3"/>
          <a:stretch>
            <a:fillRect/>
          </a:stretch>
        </p:blipFill>
        <p:spPr>
          <a:xfrm>
            <a:off x="817700" y="1778147"/>
            <a:ext cx="2733170" cy="1733537"/>
          </a:xfrm>
          <a:prstGeom prst="rect">
            <a:avLst/>
          </a:prstGeom>
          <a:ln>
            <a:solidFill>
              <a:schemeClr val="tx1"/>
            </a:solidFill>
          </a:ln>
        </p:spPr>
      </p:pic>
      <p:pic>
        <p:nvPicPr>
          <p:cNvPr id="11" name="Picture 10">
            <a:extLst>
              <a:ext uri="{FF2B5EF4-FFF2-40B4-BE49-F238E27FC236}">
                <a16:creationId xmlns:a16="http://schemas.microsoft.com/office/drawing/2014/main" id="{169D99E2-E314-5185-3FD6-199360E408B3}"/>
              </a:ext>
            </a:extLst>
          </p:cNvPr>
          <p:cNvPicPr>
            <a:picLocks noChangeAspect="1"/>
          </p:cNvPicPr>
          <p:nvPr/>
        </p:nvPicPr>
        <p:blipFill>
          <a:blip r:embed="rId4"/>
          <a:stretch>
            <a:fillRect/>
          </a:stretch>
        </p:blipFill>
        <p:spPr>
          <a:xfrm>
            <a:off x="3899076" y="1778147"/>
            <a:ext cx="7616967" cy="5001778"/>
          </a:xfrm>
          <a:prstGeom prst="rect">
            <a:avLst/>
          </a:prstGeom>
          <a:ln>
            <a:solidFill>
              <a:schemeClr val="tx1"/>
            </a:solidFill>
          </a:ln>
        </p:spPr>
      </p:pic>
      <p:sp>
        <p:nvSpPr>
          <p:cNvPr id="14" name="TextBox 13">
            <a:extLst>
              <a:ext uri="{FF2B5EF4-FFF2-40B4-BE49-F238E27FC236}">
                <a16:creationId xmlns:a16="http://schemas.microsoft.com/office/drawing/2014/main" id="{A97EC4DD-3633-9654-5C10-7556ADEBA823}"/>
              </a:ext>
            </a:extLst>
          </p:cNvPr>
          <p:cNvSpPr txBox="1"/>
          <p:nvPr/>
        </p:nvSpPr>
        <p:spPr>
          <a:xfrm>
            <a:off x="675956" y="4279036"/>
            <a:ext cx="2981643"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Yield by Season' bar chart indicates that the Kharif season has the highest average yield per hectare, followed by Rabi, and then Zaid, suggesting Kharif is generally the most productive season in terms of yield.</a:t>
            </a:r>
            <a:endParaRPr lang="en-IN" sz="1400" dirty="0">
              <a:solidFill>
                <a:srgbClr val="FF0000"/>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E9D9504-3F34-3D4D-8F8A-B580CD7D41CD}"/>
              </a:ext>
            </a:extLst>
          </p:cNvPr>
          <p:cNvSpPr txBox="1"/>
          <p:nvPr/>
        </p:nvSpPr>
        <p:spPr>
          <a:xfrm>
            <a:off x="675956" y="3936647"/>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Tree>
    <p:extLst>
      <p:ext uri="{BB962C8B-B14F-4D97-AF65-F5344CB8AC3E}">
        <p14:creationId xmlns:p14="http://schemas.microsoft.com/office/powerpoint/2010/main" val="377613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444C-516E-F0C3-AD69-C741B8FE75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2E75C9-6285-0359-EEC8-BCE29A38233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FAE8F04-2A4C-552C-F728-8D31E0E48045}"/>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6F376A31-7A99-3F7E-8CEA-F17C09A765B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9D4DD78-CFC0-4651-D9DF-BE3CD37EA50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0E790CE3-1733-BBAE-56E8-5EF3071204EB}"/>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65A3DCBF-64F4-BA86-181D-FC5B4A3EC86F}"/>
              </a:ext>
            </a:extLst>
          </p:cNvPr>
          <p:cNvSpPr txBox="1"/>
          <p:nvPr/>
        </p:nvSpPr>
        <p:spPr>
          <a:xfrm>
            <a:off x="675956" y="3936647"/>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6" name="TextBox 5">
            <a:extLst>
              <a:ext uri="{FF2B5EF4-FFF2-40B4-BE49-F238E27FC236}">
                <a16:creationId xmlns:a16="http://schemas.microsoft.com/office/drawing/2014/main" id="{6FD25924-9D90-8D32-1860-5CEF9AE1CDEC}"/>
              </a:ext>
            </a:extLst>
          </p:cNvPr>
          <p:cNvSpPr txBox="1"/>
          <p:nvPr/>
        </p:nvSpPr>
        <p:spPr>
          <a:xfrm>
            <a:off x="675956" y="1196532"/>
            <a:ext cx="5815503"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Total Production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total production?</a:t>
            </a:r>
            <a:endParaRPr lang="en-IN" sz="1600" dirty="0">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42D47B7C-43D1-0487-691A-DB7815C89838}"/>
              </a:ext>
            </a:extLst>
          </p:cNvPr>
          <p:cNvPicPr>
            <a:picLocks noChangeAspect="1"/>
          </p:cNvPicPr>
          <p:nvPr/>
        </p:nvPicPr>
        <p:blipFill>
          <a:blip r:embed="rId3"/>
          <a:stretch>
            <a:fillRect/>
          </a:stretch>
        </p:blipFill>
        <p:spPr>
          <a:xfrm>
            <a:off x="792181" y="1941449"/>
            <a:ext cx="2711920" cy="1487551"/>
          </a:xfrm>
          <a:prstGeom prst="rect">
            <a:avLst/>
          </a:prstGeom>
          <a:ln>
            <a:solidFill>
              <a:schemeClr val="tx1"/>
            </a:solidFill>
          </a:ln>
        </p:spPr>
      </p:pic>
      <p:pic>
        <p:nvPicPr>
          <p:cNvPr id="16" name="Picture 15">
            <a:extLst>
              <a:ext uri="{FF2B5EF4-FFF2-40B4-BE49-F238E27FC236}">
                <a16:creationId xmlns:a16="http://schemas.microsoft.com/office/drawing/2014/main" id="{685B4AB3-9C44-3E68-6A57-0C6BA79DED1B}"/>
              </a:ext>
            </a:extLst>
          </p:cNvPr>
          <p:cNvPicPr>
            <a:picLocks noChangeAspect="1"/>
          </p:cNvPicPr>
          <p:nvPr/>
        </p:nvPicPr>
        <p:blipFill>
          <a:blip r:embed="rId4"/>
          <a:stretch>
            <a:fillRect/>
          </a:stretch>
        </p:blipFill>
        <p:spPr>
          <a:xfrm>
            <a:off x="3753632" y="1941449"/>
            <a:ext cx="7646187" cy="4818507"/>
          </a:xfrm>
          <a:prstGeom prst="rect">
            <a:avLst/>
          </a:prstGeom>
          <a:ln>
            <a:solidFill>
              <a:schemeClr val="tx1"/>
            </a:solidFill>
          </a:ln>
        </p:spPr>
      </p:pic>
      <p:sp>
        <p:nvSpPr>
          <p:cNvPr id="17" name="TextBox 16">
            <a:extLst>
              <a:ext uri="{FF2B5EF4-FFF2-40B4-BE49-F238E27FC236}">
                <a16:creationId xmlns:a16="http://schemas.microsoft.com/office/drawing/2014/main" id="{C3877C5D-8095-4A59-BC79-8428E01E0717}"/>
              </a:ext>
            </a:extLst>
          </p:cNvPr>
          <p:cNvSpPr txBox="1"/>
          <p:nvPr/>
        </p:nvSpPr>
        <p:spPr>
          <a:xfrm>
            <a:off x="675956" y="4350702"/>
            <a:ext cx="2828145"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'Total Production by Season' bar chart indicates that the Kharif season has the highest total production, followed by Rabi, and then Zaid, suggesting Kharif is the most productive season in terms of overall output.</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872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E4CE-0BCB-C662-BAA3-BC5AE37E29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2CB406-46D8-F8F9-41DF-B1B566EA4FF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5DA5593-D969-5492-B0C1-9421219743C9}"/>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114B9121-FCFC-BC19-B2E0-81980B9709D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E3A0B41-3CD1-31BA-EF06-FB267299ED0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00D96DA4-BCF9-A9E5-6B14-811D54AEF87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4C7817A6-B5FD-4C42-06CF-73DCEB1BA242}"/>
              </a:ext>
            </a:extLst>
          </p:cNvPr>
          <p:cNvSpPr txBox="1"/>
          <p:nvPr/>
        </p:nvSpPr>
        <p:spPr>
          <a:xfrm>
            <a:off x="675956" y="3936647"/>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3F4C5B69-68CF-3006-6097-CEFA1DFD6B56}"/>
              </a:ext>
            </a:extLst>
          </p:cNvPr>
          <p:cNvSpPr txBox="1"/>
          <p:nvPr/>
        </p:nvSpPr>
        <p:spPr>
          <a:xfrm>
            <a:off x="675956" y="1196532"/>
            <a:ext cx="5610318"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Profit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average profit?</a:t>
            </a:r>
            <a:endParaRPr lang="en-IN"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E475D1D8-3DA1-6AFF-D1D6-53AAB8A17878}"/>
              </a:ext>
            </a:extLst>
          </p:cNvPr>
          <p:cNvPicPr>
            <a:picLocks noChangeAspect="1"/>
          </p:cNvPicPr>
          <p:nvPr/>
        </p:nvPicPr>
        <p:blipFill>
          <a:blip r:embed="rId3"/>
          <a:stretch>
            <a:fillRect/>
          </a:stretch>
        </p:blipFill>
        <p:spPr>
          <a:xfrm>
            <a:off x="843411" y="1941449"/>
            <a:ext cx="2275314" cy="1574272"/>
          </a:xfrm>
          <a:prstGeom prst="rect">
            <a:avLst/>
          </a:prstGeom>
          <a:ln>
            <a:solidFill>
              <a:schemeClr val="tx1"/>
            </a:solidFill>
          </a:ln>
        </p:spPr>
      </p:pic>
      <p:sp>
        <p:nvSpPr>
          <p:cNvPr id="14" name="TextBox 13">
            <a:extLst>
              <a:ext uri="{FF2B5EF4-FFF2-40B4-BE49-F238E27FC236}">
                <a16:creationId xmlns:a16="http://schemas.microsoft.com/office/drawing/2014/main" id="{E74EB769-F88B-1E18-F3BB-11C7E9387B1D}"/>
              </a:ext>
            </a:extLst>
          </p:cNvPr>
          <p:cNvSpPr txBox="1"/>
          <p:nvPr/>
        </p:nvSpPr>
        <p:spPr>
          <a:xfrm>
            <a:off x="679446" y="4341358"/>
            <a:ext cx="2626632" cy="1600438"/>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by Season' bar chart indicates that the Kharif season has the highest average profit, followed by Rabi, while the Zaid season shows an overall loss.</a:t>
            </a:r>
            <a:endParaRPr lang="en-IN" sz="1400" dirty="0">
              <a:solidFill>
                <a:srgbClr val="FF0000"/>
              </a:solidFill>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913B3BB3-51B8-F186-BFDF-2A3857D87A72}"/>
              </a:ext>
            </a:extLst>
          </p:cNvPr>
          <p:cNvPicPr>
            <a:picLocks noChangeAspect="1"/>
          </p:cNvPicPr>
          <p:nvPr/>
        </p:nvPicPr>
        <p:blipFill>
          <a:blip r:embed="rId4"/>
          <a:stretch>
            <a:fillRect/>
          </a:stretch>
        </p:blipFill>
        <p:spPr>
          <a:xfrm>
            <a:off x="3753632" y="1941449"/>
            <a:ext cx="7306717" cy="4724320"/>
          </a:xfrm>
          <a:prstGeom prst="rect">
            <a:avLst/>
          </a:prstGeom>
          <a:ln>
            <a:solidFill>
              <a:schemeClr val="tx1"/>
            </a:solidFill>
          </a:ln>
        </p:spPr>
      </p:pic>
    </p:spTree>
    <p:extLst>
      <p:ext uri="{BB962C8B-B14F-4D97-AF65-F5344CB8AC3E}">
        <p14:creationId xmlns:p14="http://schemas.microsoft.com/office/powerpoint/2010/main" val="338163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DBC75-222A-48F6-2E42-F89FFBDCD4F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1A17FB-910C-9D97-11B4-C31B61AB5CF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2F253AA-7E3A-CDAD-56C7-0B29E1A872A8}"/>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8606A9C7-3C39-05E2-9C03-10ED676FBE4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531B720-5C2A-46A0-C8C9-5CD1C292DEA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DCFF4755-64E3-963E-C6D8-82245A69AA6E}"/>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691BA83-0917-9F06-473E-B42E59FC3FC4}"/>
              </a:ext>
            </a:extLst>
          </p:cNvPr>
          <p:cNvSpPr txBox="1"/>
          <p:nvPr/>
        </p:nvSpPr>
        <p:spPr>
          <a:xfrm>
            <a:off x="675956" y="388917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43BED7D1-7AB1-9F96-349F-D8AA43088792}"/>
              </a:ext>
            </a:extLst>
          </p:cNvPr>
          <p:cNvSpPr txBox="1"/>
          <p:nvPr/>
        </p:nvSpPr>
        <p:spPr>
          <a:xfrm>
            <a:off x="675956" y="1196532"/>
            <a:ext cx="5812297"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Revenue vs Cost across Seasons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 revenue and cost vary across seasons?</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9F62C91-7574-7997-B2F3-4AF542098FAC}"/>
              </a:ext>
            </a:extLst>
          </p:cNvPr>
          <p:cNvPicPr>
            <a:picLocks noChangeAspect="1"/>
          </p:cNvPicPr>
          <p:nvPr/>
        </p:nvPicPr>
        <p:blipFill>
          <a:blip r:embed="rId3"/>
          <a:stretch>
            <a:fillRect/>
          </a:stretch>
        </p:blipFill>
        <p:spPr>
          <a:xfrm>
            <a:off x="812143" y="1916125"/>
            <a:ext cx="3234563" cy="1346884"/>
          </a:xfrm>
          <a:prstGeom prst="rect">
            <a:avLst/>
          </a:prstGeom>
          <a:ln>
            <a:solidFill>
              <a:schemeClr val="tx1"/>
            </a:solidFill>
          </a:ln>
        </p:spPr>
      </p:pic>
      <p:pic>
        <p:nvPicPr>
          <p:cNvPr id="9" name="Picture 8">
            <a:extLst>
              <a:ext uri="{FF2B5EF4-FFF2-40B4-BE49-F238E27FC236}">
                <a16:creationId xmlns:a16="http://schemas.microsoft.com/office/drawing/2014/main" id="{0B35D0A8-A583-5B2A-F5E6-AB95E8CB424C}"/>
              </a:ext>
            </a:extLst>
          </p:cNvPr>
          <p:cNvPicPr>
            <a:picLocks noChangeAspect="1"/>
          </p:cNvPicPr>
          <p:nvPr/>
        </p:nvPicPr>
        <p:blipFill>
          <a:blip r:embed="rId4"/>
          <a:stretch>
            <a:fillRect/>
          </a:stretch>
        </p:blipFill>
        <p:spPr>
          <a:xfrm>
            <a:off x="4155704" y="1916125"/>
            <a:ext cx="7735839" cy="4297689"/>
          </a:xfrm>
          <a:prstGeom prst="rect">
            <a:avLst/>
          </a:prstGeom>
          <a:ln>
            <a:solidFill>
              <a:schemeClr val="tx1"/>
            </a:solidFill>
          </a:ln>
        </p:spPr>
      </p:pic>
      <p:sp>
        <p:nvSpPr>
          <p:cNvPr id="12" name="TextBox 11">
            <a:extLst>
              <a:ext uri="{FF2B5EF4-FFF2-40B4-BE49-F238E27FC236}">
                <a16:creationId xmlns:a16="http://schemas.microsoft.com/office/drawing/2014/main" id="{5ABF45A8-A213-57FA-FFA6-74C6BD8F35BD}"/>
              </a:ext>
            </a:extLst>
          </p:cNvPr>
          <p:cNvSpPr txBox="1"/>
          <p:nvPr/>
        </p:nvSpPr>
        <p:spPr>
          <a:xfrm>
            <a:off x="675956" y="4196948"/>
            <a:ext cx="3370750" cy="2462213"/>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'Revenue vs Cost Across Seasons' bar chart reveals that the Kharif season generates significantly more revenue than its costs, indicating high profitability. The Rabi season also shows a positive margin with revenue exceeding costs. In contrast, the Zaid season demonstrates higher costs than revenue, suggesting it operates at a loss.</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025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972F-B90D-E15C-232A-8A06AAF0E7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9BCE2A7-B5F3-F2C1-BA74-922EE0C4D2C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57D5CA4-1C7F-65E5-339C-25400A055C90}"/>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C1750178-B9F5-F7C0-ECE3-458939C355C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8256706-04CB-2B2E-A3F8-EF297783277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ACB73E4E-9334-91D0-0DD2-FFA65BEC0F87}"/>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5410479-2326-A1F7-FAD4-0481EF12E9A8}"/>
              </a:ext>
            </a:extLst>
          </p:cNvPr>
          <p:cNvSpPr txBox="1"/>
          <p:nvPr/>
        </p:nvSpPr>
        <p:spPr>
          <a:xfrm>
            <a:off x="675956" y="388917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F7AA2A78-00E7-2257-B617-5E9AC9D94484}"/>
              </a:ext>
            </a:extLst>
          </p:cNvPr>
          <p:cNvSpPr txBox="1"/>
          <p:nvPr/>
        </p:nvSpPr>
        <p:spPr>
          <a:xfrm>
            <a:off x="675956" y="1196532"/>
            <a:ext cx="5486887"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Water Efficiency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best water efficiency?</a:t>
            </a:r>
            <a:endParaRPr lang="en-IN" sz="1600"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CD807EC-65DE-D533-D0CE-369114F8DB9F}"/>
              </a:ext>
            </a:extLst>
          </p:cNvPr>
          <p:cNvPicPr>
            <a:picLocks noChangeAspect="1"/>
          </p:cNvPicPr>
          <p:nvPr/>
        </p:nvPicPr>
        <p:blipFill>
          <a:blip r:embed="rId3"/>
          <a:stretch>
            <a:fillRect/>
          </a:stretch>
        </p:blipFill>
        <p:spPr>
          <a:xfrm>
            <a:off x="742973" y="1947486"/>
            <a:ext cx="3103918" cy="1201822"/>
          </a:xfrm>
          <a:prstGeom prst="rect">
            <a:avLst/>
          </a:prstGeom>
          <a:ln>
            <a:solidFill>
              <a:schemeClr val="tx1"/>
            </a:solidFill>
          </a:ln>
        </p:spPr>
      </p:pic>
      <p:pic>
        <p:nvPicPr>
          <p:cNvPr id="11" name="Picture 10">
            <a:extLst>
              <a:ext uri="{FF2B5EF4-FFF2-40B4-BE49-F238E27FC236}">
                <a16:creationId xmlns:a16="http://schemas.microsoft.com/office/drawing/2014/main" id="{EF7BC04D-6BDD-1A4B-9426-6223E197A31B}"/>
              </a:ext>
            </a:extLst>
          </p:cNvPr>
          <p:cNvPicPr>
            <a:picLocks noChangeAspect="1"/>
          </p:cNvPicPr>
          <p:nvPr/>
        </p:nvPicPr>
        <p:blipFill>
          <a:blip r:embed="rId4"/>
          <a:stretch>
            <a:fillRect/>
          </a:stretch>
        </p:blipFill>
        <p:spPr>
          <a:xfrm>
            <a:off x="4086534" y="1941449"/>
            <a:ext cx="7616532" cy="4799819"/>
          </a:xfrm>
          <a:prstGeom prst="rect">
            <a:avLst/>
          </a:prstGeom>
          <a:ln>
            <a:solidFill>
              <a:schemeClr val="tx1"/>
            </a:solidFill>
          </a:ln>
        </p:spPr>
      </p:pic>
      <p:sp>
        <p:nvSpPr>
          <p:cNvPr id="14" name="TextBox 13">
            <a:extLst>
              <a:ext uri="{FF2B5EF4-FFF2-40B4-BE49-F238E27FC236}">
                <a16:creationId xmlns:a16="http://schemas.microsoft.com/office/drawing/2014/main" id="{46CEC36D-F093-063C-33C5-1BF0CA940F7E}"/>
              </a:ext>
            </a:extLst>
          </p:cNvPr>
          <p:cNvSpPr txBox="1"/>
          <p:nvPr/>
        </p:nvSpPr>
        <p:spPr>
          <a:xfrm>
            <a:off x="651753" y="4248398"/>
            <a:ext cx="3195138" cy="203132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'Water Efficiency by Season' bar chart indicates that the Kharif season has the highest water efficiency, producing the most tonnes per 1000m³ of water, followed by Rabi, and then Zaid. This suggests that Kharif is the most water-efficient season for agriculture.</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999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EE72-FDD6-A6F2-4CFE-6D95991378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D40924-10BB-EEBB-3434-F243C153A4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F365BB1-3CF5-B2E5-EAA9-A0512A789EA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53170046-B599-A6D6-2756-C450D763E75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93B2726-D08D-29C2-9C82-A4BD36BDD50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0F3697FF-E92C-3B93-A003-41393C50BF1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(SEASONAL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D94726FA-3C4F-437E-2D31-E8CBA557E6EE}"/>
              </a:ext>
            </a:extLst>
          </p:cNvPr>
          <p:cNvSpPr txBox="1"/>
          <p:nvPr/>
        </p:nvSpPr>
        <p:spPr>
          <a:xfrm>
            <a:off x="675956" y="388917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F63772BA-FC12-A64E-1CD0-36963CDF580C}"/>
              </a:ext>
            </a:extLst>
          </p:cNvPr>
          <p:cNvSpPr txBox="1"/>
          <p:nvPr/>
        </p:nvSpPr>
        <p:spPr>
          <a:xfrm>
            <a:off x="675956" y="1196532"/>
            <a:ext cx="5906873"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Disease/Pest Risk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disease/pest risk?</a:t>
            </a:r>
            <a:endParaRPr lang="en-IN"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F08502C-F569-B673-DEEC-4F9FEA0D071E}"/>
              </a:ext>
            </a:extLst>
          </p:cNvPr>
          <p:cNvPicPr>
            <a:picLocks noChangeAspect="1"/>
          </p:cNvPicPr>
          <p:nvPr/>
        </p:nvPicPr>
        <p:blipFill>
          <a:blip r:embed="rId3"/>
          <a:stretch>
            <a:fillRect/>
          </a:stretch>
        </p:blipFill>
        <p:spPr>
          <a:xfrm>
            <a:off x="754047" y="1995165"/>
            <a:ext cx="2757625" cy="1292319"/>
          </a:xfrm>
          <a:prstGeom prst="rect">
            <a:avLst/>
          </a:prstGeom>
          <a:ln>
            <a:solidFill>
              <a:schemeClr val="tx1"/>
            </a:solidFill>
          </a:ln>
        </p:spPr>
      </p:pic>
      <p:pic>
        <p:nvPicPr>
          <p:cNvPr id="9" name="Picture 8">
            <a:extLst>
              <a:ext uri="{FF2B5EF4-FFF2-40B4-BE49-F238E27FC236}">
                <a16:creationId xmlns:a16="http://schemas.microsoft.com/office/drawing/2014/main" id="{33F41206-CE07-9DBA-474F-E133C078C600}"/>
              </a:ext>
            </a:extLst>
          </p:cNvPr>
          <p:cNvPicPr>
            <a:picLocks noChangeAspect="1"/>
          </p:cNvPicPr>
          <p:nvPr/>
        </p:nvPicPr>
        <p:blipFill>
          <a:blip r:embed="rId4"/>
          <a:stretch>
            <a:fillRect/>
          </a:stretch>
        </p:blipFill>
        <p:spPr>
          <a:xfrm>
            <a:off x="4073865" y="1989802"/>
            <a:ext cx="7249132" cy="4714953"/>
          </a:xfrm>
          <a:prstGeom prst="rect">
            <a:avLst/>
          </a:prstGeom>
          <a:ln>
            <a:solidFill>
              <a:schemeClr val="tx1"/>
            </a:solidFill>
          </a:ln>
        </p:spPr>
      </p:pic>
      <p:sp>
        <p:nvSpPr>
          <p:cNvPr id="12" name="TextBox 11">
            <a:extLst>
              <a:ext uri="{FF2B5EF4-FFF2-40B4-BE49-F238E27FC236}">
                <a16:creationId xmlns:a16="http://schemas.microsoft.com/office/drawing/2014/main" id="{9FF13022-E8FB-67D8-3F81-6A24F3D04CE2}"/>
              </a:ext>
            </a:extLst>
          </p:cNvPr>
          <p:cNvSpPr txBox="1"/>
          <p:nvPr/>
        </p:nvSpPr>
        <p:spPr>
          <a:xfrm>
            <a:off x="675957" y="4327265"/>
            <a:ext cx="3166470" cy="203132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Disease/Pest Risk Across Seasons' bar chart indicates that the Kharif season has the highest average disease and pest risk, followed by Rabi, and then Zaid. This suggests that the Kharif season is most susceptible to disease and pest outbreaks.</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732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5F762-06D9-0CA2-0E69-064ED0CB12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AEA154-BC5D-7FB6-69EA-576D46075BC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6CE807F-625F-E073-1848-3240E1128DDF}"/>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48D8404A-8BB3-0B51-F72C-4E1C5A58CB0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42141E0-E60E-14FF-1032-B6D6371FDB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5D2C563D-6A18-A22A-15CD-F7ABED367A33}"/>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F2202F0-908D-7BC5-2D58-586F8E9D11EE}"/>
              </a:ext>
            </a:extLst>
          </p:cNvPr>
          <p:cNvSpPr txBox="1"/>
          <p:nvPr/>
        </p:nvSpPr>
        <p:spPr>
          <a:xfrm>
            <a:off x="675956" y="388917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A435AB4C-E582-18D5-FD5E-68A2E2AD47E6}"/>
              </a:ext>
            </a:extLst>
          </p:cNvPr>
          <p:cNvSpPr txBox="1"/>
          <p:nvPr/>
        </p:nvSpPr>
        <p:spPr>
          <a:xfrm>
            <a:off x="675956" y="1196532"/>
            <a:ext cx="6475875"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Crop Yield by Season &amp; Average Crop Profit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crops perform best in each season?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B2DA60B-5AB0-54EF-25DF-E6C7F12472DC}"/>
              </a:ext>
            </a:extLst>
          </p:cNvPr>
          <p:cNvSpPr txBox="1"/>
          <p:nvPr/>
        </p:nvSpPr>
        <p:spPr>
          <a:xfrm>
            <a:off x="675956" y="1903525"/>
            <a:ext cx="2066463"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Best Crop by Yield:</a:t>
            </a:r>
          </a:p>
        </p:txBody>
      </p:sp>
      <p:pic>
        <p:nvPicPr>
          <p:cNvPr id="14" name="Picture 13">
            <a:extLst>
              <a:ext uri="{FF2B5EF4-FFF2-40B4-BE49-F238E27FC236}">
                <a16:creationId xmlns:a16="http://schemas.microsoft.com/office/drawing/2014/main" id="{C332A501-2912-AE88-E45C-7C18FCA87BBF}"/>
              </a:ext>
            </a:extLst>
          </p:cNvPr>
          <p:cNvPicPr>
            <a:picLocks noChangeAspect="1"/>
          </p:cNvPicPr>
          <p:nvPr/>
        </p:nvPicPr>
        <p:blipFill>
          <a:blip r:embed="rId3"/>
          <a:stretch>
            <a:fillRect/>
          </a:stretch>
        </p:blipFill>
        <p:spPr>
          <a:xfrm>
            <a:off x="752659" y="2404119"/>
            <a:ext cx="3125957" cy="1324910"/>
          </a:xfrm>
          <a:prstGeom prst="rect">
            <a:avLst/>
          </a:prstGeom>
          <a:ln>
            <a:solidFill>
              <a:schemeClr val="tx1"/>
            </a:solidFill>
          </a:ln>
        </p:spPr>
      </p:pic>
      <p:pic>
        <p:nvPicPr>
          <p:cNvPr id="16" name="Picture 15">
            <a:extLst>
              <a:ext uri="{FF2B5EF4-FFF2-40B4-BE49-F238E27FC236}">
                <a16:creationId xmlns:a16="http://schemas.microsoft.com/office/drawing/2014/main" id="{C267129A-58A3-C814-C41D-DBE85319949D}"/>
              </a:ext>
            </a:extLst>
          </p:cNvPr>
          <p:cNvPicPr>
            <a:picLocks noChangeAspect="1"/>
          </p:cNvPicPr>
          <p:nvPr/>
        </p:nvPicPr>
        <p:blipFill>
          <a:blip r:embed="rId4"/>
          <a:stretch>
            <a:fillRect/>
          </a:stretch>
        </p:blipFill>
        <p:spPr>
          <a:xfrm>
            <a:off x="4112368" y="1908020"/>
            <a:ext cx="7872336" cy="4259316"/>
          </a:xfrm>
          <a:prstGeom prst="rect">
            <a:avLst/>
          </a:prstGeom>
          <a:ln>
            <a:solidFill>
              <a:schemeClr val="tx1"/>
            </a:solidFill>
          </a:ln>
        </p:spPr>
      </p:pic>
      <p:sp>
        <p:nvSpPr>
          <p:cNvPr id="17" name="TextBox 16">
            <a:extLst>
              <a:ext uri="{FF2B5EF4-FFF2-40B4-BE49-F238E27FC236}">
                <a16:creationId xmlns:a16="http://schemas.microsoft.com/office/drawing/2014/main" id="{E4823097-D820-4ED2-9B3E-C81E28E2411E}"/>
              </a:ext>
            </a:extLst>
          </p:cNvPr>
          <p:cNvSpPr txBox="1"/>
          <p:nvPr/>
        </p:nvSpPr>
        <p:spPr>
          <a:xfrm>
            <a:off x="675956" y="4252736"/>
            <a:ext cx="3283201"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Crop Yield by Season' bar chart clearly demonstrates that Sugarcane consistently achieves the highest average yield across all three seasons (Kharif, Rabi, and Zaid). Other crops show significantly lower yields compared to Sugarcane, indicating its strong productivity regardless of the season.</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7301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BE3AF-D504-8EBA-5EF2-A9F7DCEC617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AABC1A-1094-4DB8-C2B6-7F49675F993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F2752E-4599-FA14-E74F-B08D0A80FADA}"/>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57B473BC-3726-C2AC-1172-0D4DA357E5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AAE9685-D4E8-D506-E2D2-F547BA433DA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E2E2F42A-C1BC-6F22-B8BE-7AA6E593059D}"/>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7ECB16C-F747-5ED8-D958-23A0CABB6B11}"/>
              </a:ext>
            </a:extLst>
          </p:cNvPr>
          <p:cNvSpPr txBox="1"/>
          <p:nvPr/>
        </p:nvSpPr>
        <p:spPr>
          <a:xfrm>
            <a:off x="674548" y="3644329"/>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60BE02A1-7BB9-2A01-9549-AFDBB542D494}"/>
              </a:ext>
            </a:extLst>
          </p:cNvPr>
          <p:cNvSpPr txBox="1"/>
          <p:nvPr/>
        </p:nvSpPr>
        <p:spPr>
          <a:xfrm>
            <a:off x="675956" y="1196532"/>
            <a:ext cx="6475875"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Crop Yield by Season &amp; Average Crop Profit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crops perform best in each season?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7913A76-6C79-1B0B-AC31-2A8DF8104674}"/>
              </a:ext>
            </a:extLst>
          </p:cNvPr>
          <p:cNvSpPr txBox="1"/>
          <p:nvPr/>
        </p:nvSpPr>
        <p:spPr>
          <a:xfrm>
            <a:off x="674548" y="1837095"/>
            <a:ext cx="2124299"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Best Crop by Profit:</a:t>
            </a:r>
          </a:p>
        </p:txBody>
      </p:sp>
      <p:sp>
        <p:nvSpPr>
          <p:cNvPr id="17" name="TextBox 16">
            <a:extLst>
              <a:ext uri="{FF2B5EF4-FFF2-40B4-BE49-F238E27FC236}">
                <a16:creationId xmlns:a16="http://schemas.microsoft.com/office/drawing/2014/main" id="{4E81EE35-1E44-F807-311C-65D68AE0F808}"/>
              </a:ext>
            </a:extLst>
          </p:cNvPr>
          <p:cNvSpPr txBox="1"/>
          <p:nvPr/>
        </p:nvSpPr>
        <p:spPr>
          <a:xfrm>
            <a:off x="674548" y="4007894"/>
            <a:ext cx="3479163" cy="2677656"/>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Crop Profit by Season' bar chart indicates that Sugarcane consistently generates the highest average profit across all three seasons (Kharif, Rabi, and Zaid). Crops like Chilli also show good profitability in Kharif and Rabi. Conversely, Maize, Rice, and Wheat frequently show negative average profits, especially in the Zaid season, suggesting they are less profitable or incur losses during these periods.</a:t>
            </a:r>
            <a:endParaRPr lang="en-IN" sz="110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7F1EE3C-65D1-98B6-C775-A384D350C1D9}"/>
              </a:ext>
            </a:extLst>
          </p:cNvPr>
          <p:cNvPicPr>
            <a:picLocks noChangeAspect="1"/>
          </p:cNvPicPr>
          <p:nvPr/>
        </p:nvPicPr>
        <p:blipFill>
          <a:blip r:embed="rId3"/>
          <a:stretch>
            <a:fillRect/>
          </a:stretch>
        </p:blipFill>
        <p:spPr>
          <a:xfrm>
            <a:off x="737233" y="2297867"/>
            <a:ext cx="2717225" cy="1224244"/>
          </a:xfrm>
          <a:prstGeom prst="rect">
            <a:avLst/>
          </a:prstGeom>
          <a:ln>
            <a:solidFill>
              <a:schemeClr val="tx1"/>
            </a:solidFill>
          </a:ln>
        </p:spPr>
      </p:pic>
      <p:pic>
        <p:nvPicPr>
          <p:cNvPr id="9" name="Picture 8">
            <a:extLst>
              <a:ext uri="{FF2B5EF4-FFF2-40B4-BE49-F238E27FC236}">
                <a16:creationId xmlns:a16="http://schemas.microsoft.com/office/drawing/2014/main" id="{69AF8BF1-51E0-BC64-F06F-90F4DE465663}"/>
              </a:ext>
            </a:extLst>
          </p:cNvPr>
          <p:cNvPicPr>
            <a:picLocks noChangeAspect="1"/>
          </p:cNvPicPr>
          <p:nvPr/>
        </p:nvPicPr>
        <p:blipFill>
          <a:blip r:embed="rId4"/>
          <a:stretch>
            <a:fillRect/>
          </a:stretch>
        </p:blipFill>
        <p:spPr>
          <a:xfrm>
            <a:off x="4338660" y="1903525"/>
            <a:ext cx="7532358" cy="4420441"/>
          </a:xfrm>
          <a:prstGeom prst="rect">
            <a:avLst/>
          </a:prstGeom>
          <a:ln>
            <a:solidFill>
              <a:schemeClr val="tx1"/>
            </a:solidFill>
          </a:ln>
        </p:spPr>
      </p:pic>
    </p:spTree>
    <p:extLst>
      <p:ext uri="{BB962C8B-B14F-4D97-AF65-F5344CB8AC3E}">
        <p14:creationId xmlns:p14="http://schemas.microsoft.com/office/powerpoint/2010/main" val="50250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10084-82E3-8B92-EA20-CEC61420D7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BB1216-AABF-3B34-ACCD-A29808CF1F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FBA4DE-838B-854F-5522-F0C61A3E50A2}"/>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273B96A1-6ED7-793F-BF8E-68E0DAA5739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9034934-B43E-F111-0D72-086ECCD3214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09C9F15-E75D-1E94-5189-2E1951F11C24}"/>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F4FBAC1C-2B41-880B-449B-B9F4CA406499}"/>
              </a:ext>
            </a:extLst>
          </p:cNvPr>
          <p:cNvSpPr txBox="1"/>
          <p:nvPr/>
        </p:nvSpPr>
        <p:spPr>
          <a:xfrm>
            <a:off x="674548" y="2620247"/>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09D8B177-C89F-73A6-E23F-ECBB19A4827C}"/>
              </a:ext>
            </a:extLst>
          </p:cNvPr>
          <p:cNvSpPr txBox="1"/>
          <p:nvPr/>
        </p:nvSpPr>
        <p:spPr>
          <a:xfrm>
            <a:off x="675956" y="1196532"/>
            <a:ext cx="6475875"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Crop Yield by Season &amp; Average Crop Profit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crops perform best in each season?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DDDC58A-262D-1E5A-6292-7BE106773FF9}"/>
              </a:ext>
            </a:extLst>
          </p:cNvPr>
          <p:cNvSpPr txBox="1"/>
          <p:nvPr/>
        </p:nvSpPr>
        <p:spPr>
          <a:xfrm>
            <a:off x="674548" y="1949744"/>
            <a:ext cx="6481518" cy="338554"/>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Compare Crop Performance by Yield and Profit Across Seasons:</a:t>
            </a:r>
          </a:p>
        </p:txBody>
      </p:sp>
      <p:sp>
        <p:nvSpPr>
          <p:cNvPr id="17" name="TextBox 16">
            <a:extLst>
              <a:ext uri="{FF2B5EF4-FFF2-40B4-BE49-F238E27FC236}">
                <a16:creationId xmlns:a16="http://schemas.microsoft.com/office/drawing/2014/main" id="{7BCB6721-78D0-EC26-ADF5-B275C46D8F4E}"/>
              </a:ext>
            </a:extLst>
          </p:cNvPr>
          <p:cNvSpPr txBox="1"/>
          <p:nvPr/>
        </p:nvSpPr>
        <p:spPr>
          <a:xfrm>
            <a:off x="674548" y="2983812"/>
            <a:ext cx="3479163" cy="203132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'Crop Performance by Yield and Profit Across Seasons' data clearly indicates that Sugarcane is the top-performing crop, consistently achieving the highest yield and profit across all three seasons (Kharif, Rabi, and Zaid). This highlights Sugarcane's robust performance and profitability regardless of the agricultural season.</a:t>
            </a:r>
            <a:endParaRPr lang="en-IN" sz="1000" dirty="0">
              <a:solidFill>
                <a:srgbClr val="FF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6F67E7E-49E2-070D-756E-007D97221106}"/>
              </a:ext>
            </a:extLst>
          </p:cNvPr>
          <p:cNvPicPr>
            <a:picLocks noChangeAspect="1"/>
          </p:cNvPicPr>
          <p:nvPr/>
        </p:nvPicPr>
        <p:blipFill>
          <a:blip r:embed="rId3"/>
          <a:stretch>
            <a:fillRect/>
          </a:stretch>
        </p:blipFill>
        <p:spPr>
          <a:xfrm>
            <a:off x="5056950" y="2872691"/>
            <a:ext cx="6190400" cy="1851052"/>
          </a:xfrm>
          <a:prstGeom prst="rect">
            <a:avLst/>
          </a:prstGeom>
          <a:ln>
            <a:solidFill>
              <a:schemeClr val="tx1"/>
            </a:solidFill>
          </a:ln>
        </p:spPr>
      </p:pic>
    </p:spTree>
    <p:extLst>
      <p:ext uri="{BB962C8B-B14F-4D97-AF65-F5344CB8AC3E}">
        <p14:creationId xmlns:p14="http://schemas.microsoft.com/office/powerpoint/2010/main" val="239100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EBBE0-2EBD-017B-30C0-465E2CB1EE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6CF364F-A273-FCE1-7661-1122F4DB629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A632262-DAEA-2D6C-260D-33F5ABAE8DB8}"/>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C13F0E77-C449-F94A-7017-F5397E2A498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B3E71B3-D603-D5DC-9791-EEA508715D1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77D02FE4-F294-65E8-C55B-65E78742F3AA}"/>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A7D6F51-6934-47AF-7815-7E6825A133B2}"/>
              </a:ext>
            </a:extLst>
          </p:cNvPr>
          <p:cNvSpPr txBox="1"/>
          <p:nvPr/>
        </p:nvSpPr>
        <p:spPr>
          <a:xfrm>
            <a:off x="675956" y="454133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962C6525-BA4A-626A-2651-0F776316116D}"/>
              </a:ext>
            </a:extLst>
          </p:cNvPr>
          <p:cNvSpPr txBox="1"/>
          <p:nvPr/>
        </p:nvSpPr>
        <p:spPr>
          <a:xfrm>
            <a:off x="675956" y="1196532"/>
            <a:ext cx="5291320"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Yield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has the highest average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097000D0-E7CA-A21C-07F1-A0DB28E7C8E5}"/>
              </a:ext>
            </a:extLst>
          </p:cNvPr>
          <p:cNvSpPr txBox="1"/>
          <p:nvPr/>
        </p:nvSpPr>
        <p:spPr>
          <a:xfrm>
            <a:off x="675956" y="4826010"/>
            <a:ext cx="3479163" cy="138499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Yield by Crop' bar chart clearly indicates that Sugarcane has the highest average yield per hectare, significantly outperforming all other crops. This suggests Sugarcane is the most productive crop in terms of yield.</a:t>
            </a:r>
            <a:endParaRPr lang="en-IN" sz="80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D4BD980-C170-8173-96CE-030B7CE70C42}"/>
              </a:ext>
            </a:extLst>
          </p:cNvPr>
          <p:cNvPicPr>
            <a:picLocks noChangeAspect="1"/>
          </p:cNvPicPr>
          <p:nvPr/>
        </p:nvPicPr>
        <p:blipFill>
          <a:blip r:embed="rId3"/>
          <a:stretch>
            <a:fillRect/>
          </a:stretch>
        </p:blipFill>
        <p:spPr>
          <a:xfrm>
            <a:off x="802236" y="1787687"/>
            <a:ext cx="2224320" cy="2593501"/>
          </a:xfrm>
          <a:prstGeom prst="rect">
            <a:avLst/>
          </a:prstGeom>
          <a:ln>
            <a:solidFill>
              <a:schemeClr val="tx1"/>
            </a:solidFill>
          </a:ln>
        </p:spPr>
      </p:pic>
      <p:pic>
        <p:nvPicPr>
          <p:cNvPr id="9" name="Picture 8">
            <a:extLst>
              <a:ext uri="{FF2B5EF4-FFF2-40B4-BE49-F238E27FC236}">
                <a16:creationId xmlns:a16="http://schemas.microsoft.com/office/drawing/2014/main" id="{39352DB7-3094-458D-46F4-C254FB120F46}"/>
              </a:ext>
            </a:extLst>
          </p:cNvPr>
          <p:cNvPicPr>
            <a:picLocks noChangeAspect="1"/>
          </p:cNvPicPr>
          <p:nvPr/>
        </p:nvPicPr>
        <p:blipFill>
          <a:blip r:embed="rId4"/>
          <a:stretch>
            <a:fillRect/>
          </a:stretch>
        </p:blipFill>
        <p:spPr>
          <a:xfrm>
            <a:off x="4345695" y="1813980"/>
            <a:ext cx="7525324" cy="4894593"/>
          </a:xfrm>
          <a:prstGeom prst="rect">
            <a:avLst/>
          </a:prstGeom>
          <a:ln>
            <a:solidFill>
              <a:schemeClr val="tx1"/>
            </a:solidFill>
          </a:ln>
        </p:spPr>
      </p:pic>
    </p:spTree>
    <p:extLst>
      <p:ext uri="{BB962C8B-B14F-4D97-AF65-F5344CB8AC3E}">
        <p14:creationId xmlns:p14="http://schemas.microsoft.com/office/powerpoint/2010/main" val="379760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1FF0-F3B3-F05C-5ABB-9ED8092241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5075562-7219-C5CC-1BC3-7F18DDB23F3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26E3404-3DB5-A758-9737-D35043639F8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09E0ED50-7366-235B-8551-51BBF82289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E8E6014-2C3D-2FD0-525A-3DBCB2D1901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EB7AEE52-3342-CF5D-8765-8242AC569BBD}"/>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734FF20-AEAB-D540-9BA5-D3ECEAD8810C}"/>
              </a:ext>
            </a:extLst>
          </p:cNvPr>
          <p:cNvSpPr txBox="1"/>
          <p:nvPr/>
        </p:nvSpPr>
        <p:spPr>
          <a:xfrm>
            <a:off x="675956" y="454133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B478960A-5A3F-6E18-ED7E-75346AA8120C}"/>
              </a:ext>
            </a:extLst>
          </p:cNvPr>
          <p:cNvSpPr txBox="1"/>
          <p:nvPr/>
        </p:nvSpPr>
        <p:spPr>
          <a:xfrm>
            <a:off x="675956" y="1196532"/>
            <a:ext cx="6456704"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Profit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generates the highest total/average profit?</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D9475656-E57D-26A3-CAD6-4DA1593C0A2E}"/>
              </a:ext>
            </a:extLst>
          </p:cNvPr>
          <p:cNvSpPr txBox="1"/>
          <p:nvPr/>
        </p:nvSpPr>
        <p:spPr>
          <a:xfrm>
            <a:off x="675956" y="4826010"/>
            <a:ext cx="3479163"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by Crop' bar chart clearly shows that Chilli and Sugarcane are the most profitable crops, generating significant total profits. In contrast, Wheat, Rice, Maize, and Pulses appear to be unprofitable, as indicated by their negative total profit values.</a:t>
            </a:r>
            <a:endParaRPr lang="en-IN" sz="600"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58B2AEE2-D36B-7076-F3DA-11BCC59A67DE}"/>
              </a:ext>
            </a:extLst>
          </p:cNvPr>
          <p:cNvPicPr>
            <a:picLocks noChangeAspect="1"/>
          </p:cNvPicPr>
          <p:nvPr/>
        </p:nvPicPr>
        <p:blipFill>
          <a:blip r:embed="rId3"/>
          <a:stretch>
            <a:fillRect/>
          </a:stretch>
        </p:blipFill>
        <p:spPr>
          <a:xfrm>
            <a:off x="943661" y="1857526"/>
            <a:ext cx="1931297" cy="2643815"/>
          </a:xfrm>
          <a:prstGeom prst="rect">
            <a:avLst/>
          </a:prstGeom>
          <a:ln>
            <a:solidFill>
              <a:schemeClr val="tx1"/>
            </a:solidFill>
          </a:ln>
        </p:spPr>
      </p:pic>
      <p:pic>
        <p:nvPicPr>
          <p:cNvPr id="11" name="Picture 10">
            <a:extLst>
              <a:ext uri="{FF2B5EF4-FFF2-40B4-BE49-F238E27FC236}">
                <a16:creationId xmlns:a16="http://schemas.microsoft.com/office/drawing/2014/main" id="{396D920A-EC4E-6545-49F6-5EDE79AFEC88}"/>
              </a:ext>
            </a:extLst>
          </p:cNvPr>
          <p:cNvPicPr>
            <a:picLocks noChangeAspect="1"/>
          </p:cNvPicPr>
          <p:nvPr/>
        </p:nvPicPr>
        <p:blipFill>
          <a:blip r:embed="rId4"/>
          <a:stretch>
            <a:fillRect/>
          </a:stretch>
        </p:blipFill>
        <p:spPr>
          <a:xfrm>
            <a:off x="4290396" y="1857526"/>
            <a:ext cx="7492974" cy="4782563"/>
          </a:xfrm>
          <a:prstGeom prst="rect">
            <a:avLst/>
          </a:prstGeom>
          <a:ln>
            <a:solidFill>
              <a:schemeClr val="tx1"/>
            </a:solidFill>
          </a:ln>
        </p:spPr>
      </p:pic>
    </p:spTree>
    <p:extLst>
      <p:ext uri="{BB962C8B-B14F-4D97-AF65-F5344CB8AC3E}">
        <p14:creationId xmlns:p14="http://schemas.microsoft.com/office/powerpoint/2010/main" val="386643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D310A-D5F3-8477-EF9A-09D21BB7788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1B3BFC-95E2-E50F-F794-0FB12972E41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D3587B6-CE55-613A-C225-0E0DEC56041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D1EC6E98-A6F6-0B4A-3CF0-4A5DFFA5CC9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A0B06DF-D750-343F-1E22-FB9CC545050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38019682-068C-2E9E-C026-13C96495DA4F}"/>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DF1ACEA-9D6D-CDDC-4CEE-ACB86117F5A3}"/>
              </a:ext>
            </a:extLst>
          </p:cNvPr>
          <p:cNvSpPr txBox="1"/>
          <p:nvPr/>
        </p:nvSpPr>
        <p:spPr>
          <a:xfrm>
            <a:off x="675956" y="4256652"/>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220CF928-E202-95CF-B52F-889697DAE526}"/>
              </a:ext>
            </a:extLst>
          </p:cNvPr>
          <p:cNvSpPr txBox="1"/>
          <p:nvPr/>
        </p:nvSpPr>
        <p:spPr>
          <a:xfrm>
            <a:off x="675956" y="1196532"/>
            <a:ext cx="5551007"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Revenue vs Cost across Crops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 revenue and cost vary across crops?</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7B13B3E7-D6C8-45E1-42F0-441BC0D4AEE8}"/>
              </a:ext>
            </a:extLst>
          </p:cNvPr>
          <p:cNvSpPr txBox="1"/>
          <p:nvPr/>
        </p:nvSpPr>
        <p:spPr>
          <a:xfrm>
            <a:off x="675956" y="4541331"/>
            <a:ext cx="4080870"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'Revenue vs Cost Across Crops' bar chart clearly shows that Chilli and Sugarcane have substantially higher revenues compared to their costs, indicating strong profitability. Cotton and Groundnut also show revenues exceeding costs, suggesting they are profitable crops. In contrast, Maize, Pulses, Rice, and Wheat all demonstrate costs that are higher than their revenues, highlighting their unprofitability within this dataset.</a:t>
            </a:r>
            <a:endParaRPr lang="en-IN" sz="400" b="1"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94EA95F-4F02-3DF2-C968-F3BBA97CEE69}"/>
              </a:ext>
            </a:extLst>
          </p:cNvPr>
          <p:cNvPicPr>
            <a:picLocks noChangeAspect="1"/>
          </p:cNvPicPr>
          <p:nvPr/>
        </p:nvPicPr>
        <p:blipFill>
          <a:blip r:embed="rId3"/>
          <a:stretch>
            <a:fillRect/>
          </a:stretch>
        </p:blipFill>
        <p:spPr>
          <a:xfrm>
            <a:off x="826447" y="1781307"/>
            <a:ext cx="2831154" cy="2425497"/>
          </a:xfrm>
          <a:prstGeom prst="rect">
            <a:avLst/>
          </a:prstGeom>
          <a:ln>
            <a:solidFill>
              <a:schemeClr val="tx1"/>
            </a:solidFill>
          </a:ln>
        </p:spPr>
      </p:pic>
      <p:pic>
        <p:nvPicPr>
          <p:cNvPr id="9" name="Picture 8">
            <a:extLst>
              <a:ext uri="{FF2B5EF4-FFF2-40B4-BE49-F238E27FC236}">
                <a16:creationId xmlns:a16="http://schemas.microsoft.com/office/drawing/2014/main" id="{A51D48E5-B458-8995-85A0-A68D08FF6696}"/>
              </a:ext>
            </a:extLst>
          </p:cNvPr>
          <p:cNvPicPr>
            <a:picLocks noChangeAspect="1"/>
          </p:cNvPicPr>
          <p:nvPr/>
        </p:nvPicPr>
        <p:blipFill>
          <a:blip r:embed="rId4"/>
          <a:stretch>
            <a:fillRect/>
          </a:stretch>
        </p:blipFill>
        <p:spPr>
          <a:xfrm>
            <a:off x="4924160" y="1781307"/>
            <a:ext cx="6975547" cy="4580582"/>
          </a:xfrm>
          <a:prstGeom prst="rect">
            <a:avLst/>
          </a:prstGeom>
          <a:ln>
            <a:solidFill>
              <a:schemeClr val="tx1"/>
            </a:solidFill>
          </a:ln>
        </p:spPr>
      </p:pic>
    </p:spTree>
    <p:extLst>
      <p:ext uri="{BB962C8B-B14F-4D97-AF65-F5344CB8AC3E}">
        <p14:creationId xmlns:p14="http://schemas.microsoft.com/office/powerpoint/2010/main" val="298860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0218-4529-1CF7-B037-C43C0402199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5C7754-6855-411C-0DCD-7E1595D5FD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0D4F78-0B39-A3DA-39D2-667CDE729994}"/>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BF673EF-BDF2-D9C0-C55A-CD07FFCBD06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2642043-0044-B2A5-B70F-3C7E480995F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99A474AF-248E-3E0E-5AFB-B588214363D5}"/>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18CDAD9-3C89-87CF-053F-810A6450F4F3}"/>
              </a:ext>
            </a:extLst>
          </p:cNvPr>
          <p:cNvSpPr txBox="1"/>
          <p:nvPr/>
        </p:nvSpPr>
        <p:spPr>
          <a:xfrm>
            <a:off x="675956" y="454133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CD9D3599-1EE7-50FE-5098-FC76FAE186C5}"/>
              </a:ext>
            </a:extLst>
          </p:cNvPr>
          <p:cNvSpPr txBox="1"/>
          <p:nvPr/>
        </p:nvSpPr>
        <p:spPr>
          <a:xfrm>
            <a:off x="675956" y="1196532"/>
            <a:ext cx="6650667"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Average Water Used Per Tonne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requires the most water to produce 1 tonne?</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46E2E1D-6647-FB57-7714-D11B1FDA6105}"/>
              </a:ext>
            </a:extLst>
          </p:cNvPr>
          <p:cNvSpPr txBox="1"/>
          <p:nvPr/>
        </p:nvSpPr>
        <p:spPr>
          <a:xfrm>
            <a:off x="675956" y="4826010"/>
            <a:ext cx="3479163"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Water Used per Tonne by Crop' bar chart reveals that Rice and Cotton require the most water per tonne of production, indicating lower water efficiency for these crops. In stark contrast, Sugarcane requires significantly less water per tonne, highlighting its high water efficiency.</a:t>
            </a:r>
            <a:endParaRPr lang="en-IN" sz="400" dirty="0">
              <a:solidFill>
                <a:srgbClr val="FF0000"/>
              </a:solidFill>
              <a:latin typeface="Arial" panose="020B0604020202020204" pitchFamily="34" charset="0"/>
              <a:cs typeface="Arial" panose="020B0604020202020204" pitchFamily="34" charset="0"/>
            </a:endParaRPr>
          </a:p>
        </p:txBody>
      </p:sp>
      <p:pic>
        <p:nvPicPr>
          <p:cNvPr id="12" name="Picture 11">
            <a:extLst>
              <a:ext uri="{FF2B5EF4-FFF2-40B4-BE49-F238E27FC236}">
                <a16:creationId xmlns:a16="http://schemas.microsoft.com/office/drawing/2014/main" id="{B8477420-34C1-1AD6-45CC-893721FB5985}"/>
              </a:ext>
            </a:extLst>
          </p:cNvPr>
          <p:cNvPicPr>
            <a:picLocks noChangeAspect="1"/>
          </p:cNvPicPr>
          <p:nvPr/>
        </p:nvPicPr>
        <p:blipFill>
          <a:blip r:embed="rId3"/>
          <a:stretch>
            <a:fillRect/>
          </a:stretch>
        </p:blipFill>
        <p:spPr>
          <a:xfrm>
            <a:off x="747287" y="1815354"/>
            <a:ext cx="2448114" cy="2430935"/>
          </a:xfrm>
          <a:prstGeom prst="rect">
            <a:avLst/>
          </a:prstGeom>
          <a:ln>
            <a:solidFill>
              <a:schemeClr val="tx1"/>
            </a:solidFill>
          </a:ln>
        </p:spPr>
      </p:pic>
      <p:pic>
        <p:nvPicPr>
          <p:cNvPr id="14" name="Picture 13">
            <a:extLst>
              <a:ext uri="{FF2B5EF4-FFF2-40B4-BE49-F238E27FC236}">
                <a16:creationId xmlns:a16="http://schemas.microsoft.com/office/drawing/2014/main" id="{3E1F22A3-BC5C-9E81-6D44-734B16C04B72}"/>
              </a:ext>
            </a:extLst>
          </p:cNvPr>
          <p:cNvPicPr>
            <a:picLocks noChangeAspect="1"/>
          </p:cNvPicPr>
          <p:nvPr/>
        </p:nvPicPr>
        <p:blipFill>
          <a:blip r:embed="rId4"/>
          <a:stretch>
            <a:fillRect/>
          </a:stretch>
        </p:blipFill>
        <p:spPr>
          <a:xfrm>
            <a:off x="4489888" y="1813980"/>
            <a:ext cx="7474205" cy="4552773"/>
          </a:xfrm>
          <a:prstGeom prst="rect">
            <a:avLst/>
          </a:prstGeom>
          <a:ln>
            <a:solidFill>
              <a:schemeClr val="tx1"/>
            </a:solidFill>
          </a:ln>
        </p:spPr>
      </p:pic>
    </p:spTree>
    <p:extLst>
      <p:ext uri="{BB962C8B-B14F-4D97-AF65-F5344CB8AC3E}">
        <p14:creationId xmlns:p14="http://schemas.microsoft.com/office/powerpoint/2010/main" val="183418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0330D-0B5D-60B2-A71E-3E16423AFA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0098F0-5BC3-CC09-AC13-7C59CDAD63C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5121941-8AAD-985C-30EF-12C23787629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955CA830-C06A-C7BC-54EF-BAD0D732179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BB54520-051B-0F0A-E30D-D72701C8B15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3EC283E2-3958-A8E5-EDFF-07A50AC4D167}"/>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BB2D059-A051-F795-A863-45123AB33CAC}"/>
              </a:ext>
            </a:extLst>
          </p:cNvPr>
          <p:cNvSpPr txBox="1"/>
          <p:nvPr/>
        </p:nvSpPr>
        <p:spPr>
          <a:xfrm>
            <a:off x="675956" y="446351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D1D01223-2117-1184-6262-900AC4424CA9}"/>
              </a:ext>
            </a:extLst>
          </p:cNvPr>
          <p:cNvSpPr txBox="1"/>
          <p:nvPr/>
        </p:nvSpPr>
        <p:spPr>
          <a:xfrm>
            <a:off x="675956" y="1196532"/>
            <a:ext cx="5123006" cy="584775"/>
          </a:xfrm>
          <a:prstGeom prst="rect">
            <a:avLst/>
          </a:prstGeom>
          <a:noFill/>
        </p:spPr>
        <p:txBody>
          <a:bodyPr wrap="none" rtlCol="0">
            <a:spAutoFit/>
          </a:bodyPr>
          <a:lstStyle/>
          <a:p>
            <a:r>
              <a:rPr lang="en-IN" sz="1600" b="1" dirty="0">
                <a:latin typeface="Arial" panose="020B0604020202020204" pitchFamily="34" charset="0"/>
                <a:cs typeface="Arial" panose="020B0604020202020204" pitchFamily="34" charset="0"/>
              </a:rPr>
              <a:t>Overall Water Used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uses the most water overall?</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4A7BC890-C035-AD97-8AA8-82D9484CDF7F}"/>
              </a:ext>
            </a:extLst>
          </p:cNvPr>
          <p:cNvSpPr txBox="1"/>
          <p:nvPr/>
        </p:nvSpPr>
        <p:spPr>
          <a:xfrm>
            <a:off x="675956" y="4748189"/>
            <a:ext cx="3482612" cy="203132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'Overall Water Used by Crop' bar chart indicates that Sugarcane and Rice are the crops that consume the most water in terms of total volume. In contrast, Pulses, Groundnut, Wheat, and Maize require significantly less overall water, suggesting they are less water-intensive crops in terms of total usage across the dataset.</a:t>
            </a:r>
            <a:endParaRPr lang="en-IN" sz="40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DBF2D9E-6D08-6CE7-F1A0-622E73B4851E}"/>
              </a:ext>
            </a:extLst>
          </p:cNvPr>
          <p:cNvPicPr>
            <a:picLocks noChangeAspect="1"/>
          </p:cNvPicPr>
          <p:nvPr/>
        </p:nvPicPr>
        <p:blipFill>
          <a:blip r:embed="rId3"/>
          <a:stretch>
            <a:fillRect/>
          </a:stretch>
        </p:blipFill>
        <p:spPr>
          <a:xfrm>
            <a:off x="924843" y="1855092"/>
            <a:ext cx="2004075" cy="2349606"/>
          </a:xfrm>
          <a:prstGeom prst="rect">
            <a:avLst/>
          </a:prstGeom>
          <a:ln>
            <a:solidFill>
              <a:schemeClr val="tx1"/>
            </a:solidFill>
          </a:ln>
        </p:spPr>
      </p:pic>
      <p:pic>
        <p:nvPicPr>
          <p:cNvPr id="9" name="Picture 8">
            <a:extLst>
              <a:ext uri="{FF2B5EF4-FFF2-40B4-BE49-F238E27FC236}">
                <a16:creationId xmlns:a16="http://schemas.microsoft.com/office/drawing/2014/main" id="{CEAD6664-12D7-6EE4-7624-1432E519CCBE}"/>
              </a:ext>
            </a:extLst>
          </p:cNvPr>
          <p:cNvPicPr>
            <a:picLocks noChangeAspect="1"/>
          </p:cNvPicPr>
          <p:nvPr/>
        </p:nvPicPr>
        <p:blipFill>
          <a:blip r:embed="rId4"/>
          <a:stretch>
            <a:fillRect/>
          </a:stretch>
        </p:blipFill>
        <p:spPr>
          <a:xfrm>
            <a:off x="4268404" y="1852427"/>
            <a:ext cx="7743523" cy="4619493"/>
          </a:xfrm>
          <a:prstGeom prst="rect">
            <a:avLst/>
          </a:prstGeom>
          <a:ln>
            <a:solidFill>
              <a:schemeClr val="tx1"/>
            </a:solidFill>
          </a:ln>
        </p:spPr>
      </p:pic>
    </p:spTree>
    <p:extLst>
      <p:ext uri="{BB962C8B-B14F-4D97-AF65-F5344CB8AC3E}">
        <p14:creationId xmlns:p14="http://schemas.microsoft.com/office/powerpoint/2010/main" val="9250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E408-393C-66E5-7460-D323AD313F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66B241-74E7-D844-FE56-5031F62D77C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4744FD0-36BC-A886-C696-C84D9964240F}"/>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A12C621A-1C10-D37D-9E08-07A72CBBB04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2875E67-9A59-FC79-825E-9EDC91D74F7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183EF4B4-C836-149C-EDEF-432635EA4CD8}"/>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(CROP PERFORMANCE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554044D-1D6E-B90A-E7CC-EB221D431546}"/>
              </a:ext>
            </a:extLst>
          </p:cNvPr>
          <p:cNvSpPr txBox="1"/>
          <p:nvPr/>
        </p:nvSpPr>
        <p:spPr>
          <a:xfrm>
            <a:off x="675956" y="4326552"/>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C30006F2-F573-50EC-380C-C653A4F53403}"/>
              </a:ext>
            </a:extLst>
          </p:cNvPr>
          <p:cNvSpPr txBox="1"/>
          <p:nvPr/>
        </p:nvSpPr>
        <p:spPr>
          <a:xfrm>
            <a:off x="675956" y="1196532"/>
            <a:ext cx="9839644" cy="830997"/>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State-wise Crop Production Analysis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crop production vary across states, and which crops contribute most to state-level production?</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35E39E8-0644-1A83-A38A-EEFD6006DD0F}"/>
              </a:ext>
            </a:extLst>
          </p:cNvPr>
          <p:cNvSpPr txBox="1"/>
          <p:nvPr/>
        </p:nvSpPr>
        <p:spPr>
          <a:xfrm>
            <a:off x="675956" y="4611231"/>
            <a:ext cx="3482612"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'Crop Production by State' stacked bar chart clearly illustrates that Sugarcane is the dominant crop, contributing the highest production volume across all listed states. This indicates that state-level agricultural output is heavily influenced by Sugarcane cultivation, making it the top-performing crop in terms of total production for each state</a:t>
            </a:r>
            <a:endParaRPr lang="en-IN" sz="200"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BF05283-E57B-00B2-F119-48D11467AD3E}"/>
              </a:ext>
            </a:extLst>
          </p:cNvPr>
          <p:cNvPicPr>
            <a:picLocks noChangeAspect="1"/>
          </p:cNvPicPr>
          <p:nvPr/>
        </p:nvPicPr>
        <p:blipFill>
          <a:blip r:embed="rId3"/>
          <a:stretch>
            <a:fillRect/>
          </a:stretch>
        </p:blipFill>
        <p:spPr>
          <a:xfrm>
            <a:off x="895884" y="2109811"/>
            <a:ext cx="2857748" cy="2133785"/>
          </a:xfrm>
          <a:prstGeom prst="rect">
            <a:avLst/>
          </a:prstGeom>
          <a:ln>
            <a:solidFill>
              <a:schemeClr val="tx1"/>
            </a:solidFill>
          </a:ln>
        </p:spPr>
      </p:pic>
      <p:pic>
        <p:nvPicPr>
          <p:cNvPr id="11" name="Picture 10">
            <a:extLst>
              <a:ext uri="{FF2B5EF4-FFF2-40B4-BE49-F238E27FC236}">
                <a16:creationId xmlns:a16="http://schemas.microsoft.com/office/drawing/2014/main" id="{8DE04DAE-536F-694A-D8F6-EA72CD4F6192}"/>
              </a:ext>
            </a:extLst>
          </p:cNvPr>
          <p:cNvPicPr>
            <a:picLocks noChangeAspect="1"/>
          </p:cNvPicPr>
          <p:nvPr/>
        </p:nvPicPr>
        <p:blipFill>
          <a:blip r:embed="rId4"/>
          <a:stretch>
            <a:fillRect/>
          </a:stretch>
        </p:blipFill>
        <p:spPr>
          <a:xfrm>
            <a:off x="4158568" y="1813980"/>
            <a:ext cx="7845364" cy="4657940"/>
          </a:xfrm>
          <a:prstGeom prst="rect">
            <a:avLst/>
          </a:prstGeom>
          <a:ln>
            <a:solidFill>
              <a:schemeClr val="tx1"/>
            </a:solidFill>
          </a:ln>
        </p:spPr>
      </p:pic>
    </p:spTree>
    <p:extLst>
      <p:ext uri="{BB962C8B-B14F-4D97-AF65-F5344CB8AC3E}">
        <p14:creationId xmlns:p14="http://schemas.microsoft.com/office/powerpoint/2010/main" val="249521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D821C-9675-6E88-4EA4-BA81C076B6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1AA18B-5E00-E06B-1CA2-CB028215C3B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01D7422-ADAF-168F-CB7B-C1599E2D5563}"/>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0B99D90B-E696-E561-E5E1-037D8A45660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70E175B-D25B-E62B-6677-DC3893AA41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2C756F54-3F5D-BCE6-8CB0-F9DAAF7D0D26}"/>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(ENVIRONMENTAL FACTOR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BA2D4D12-B82F-35C4-A2AA-FE5AF6AEC9C0}"/>
              </a:ext>
            </a:extLst>
          </p:cNvPr>
          <p:cNvSpPr txBox="1"/>
          <p:nvPr/>
        </p:nvSpPr>
        <p:spPr>
          <a:xfrm>
            <a:off x="675956" y="382251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9014193A-52E9-4239-E33B-C90AAEFBFD47}"/>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Rainfall Analysis: Seasonal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rainfall vary across seasons? Is it associated with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4E0F2EB-0EA7-F624-3DCA-3724CCDD65B5}"/>
              </a:ext>
            </a:extLst>
          </p:cNvPr>
          <p:cNvSpPr txBox="1"/>
          <p:nvPr/>
        </p:nvSpPr>
        <p:spPr>
          <a:xfrm>
            <a:off x="675955" y="4097885"/>
            <a:ext cx="4139235" cy="2677656"/>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Rainfall by Season' bar chart indicates that the Kharif season receives the highest average rainfall, followed by the Rabi season, and then the Zaid season, which experiences the lowest average rainfall. This suggests that Kharif is the wettest agricultural season. </a:t>
            </a:r>
          </a:p>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Rainfall and Yield is 0.03. This indicates a very weak positive linear relationship, suggesting that rainfall, in this dataset, has a negligible direct association with agricultural yield.</a:t>
            </a:r>
            <a:endParaRPr lang="en-IN" sz="200" b="1"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D068C4B-4463-428C-0E96-007C9B929755}"/>
              </a:ext>
            </a:extLst>
          </p:cNvPr>
          <p:cNvPicPr>
            <a:picLocks noChangeAspect="1"/>
          </p:cNvPicPr>
          <p:nvPr/>
        </p:nvPicPr>
        <p:blipFill>
          <a:blip r:embed="rId3"/>
          <a:stretch>
            <a:fillRect/>
          </a:stretch>
        </p:blipFill>
        <p:spPr>
          <a:xfrm>
            <a:off x="768713" y="1936791"/>
            <a:ext cx="2169040" cy="1338892"/>
          </a:xfrm>
          <a:prstGeom prst="rect">
            <a:avLst/>
          </a:prstGeom>
          <a:ln>
            <a:solidFill>
              <a:schemeClr val="tx1"/>
            </a:solidFill>
          </a:ln>
        </p:spPr>
      </p:pic>
      <p:pic>
        <p:nvPicPr>
          <p:cNvPr id="9" name="Picture 8">
            <a:extLst>
              <a:ext uri="{FF2B5EF4-FFF2-40B4-BE49-F238E27FC236}">
                <a16:creationId xmlns:a16="http://schemas.microsoft.com/office/drawing/2014/main" id="{A3B71EBB-F7FF-6257-5082-9E3B32A3FC1A}"/>
              </a:ext>
            </a:extLst>
          </p:cNvPr>
          <p:cNvPicPr>
            <a:picLocks noChangeAspect="1"/>
          </p:cNvPicPr>
          <p:nvPr/>
        </p:nvPicPr>
        <p:blipFill>
          <a:blip r:embed="rId4"/>
          <a:stretch>
            <a:fillRect/>
          </a:stretch>
        </p:blipFill>
        <p:spPr>
          <a:xfrm>
            <a:off x="4932477" y="1777736"/>
            <a:ext cx="7185632" cy="4624165"/>
          </a:xfrm>
          <a:prstGeom prst="rect">
            <a:avLst/>
          </a:prstGeom>
          <a:ln>
            <a:solidFill>
              <a:schemeClr val="tx1"/>
            </a:solidFill>
          </a:ln>
        </p:spPr>
      </p:pic>
      <p:pic>
        <p:nvPicPr>
          <p:cNvPr id="12" name="Picture 11">
            <a:extLst>
              <a:ext uri="{FF2B5EF4-FFF2-40B4-BE49-F238E27FC236}">
                <a16:creationId xmlns:a16="http://schemas.microsoft.com/office/drawing/2014/main" id="{FA69776D-123B-9F7F-16A4-23A1C2694AEE}"/>
              </a:ext>
            </a:extLst>
          </p:cNvPr>
          <p:cNvPicPr>
            <a:picLocks noChangeAspect="1"/>
          </p:cNvPicPr>
          <p:nvPr/>
        </p:nvPicPr>
        <p:blipFill>
          <a:blip r:embed="rId5"/>
          <a:stretch>
            <a:fillRect/>
          </a:stretch>
        </p:blipFill>
        <p:spPr>
          <a:xfrm>
            <a:off x="768714" y="3429000"/>
            <a:ext cx="3482612" cy="379206"/>
          </a:xfrm>
          <a:prstGeom prst="rect">
            <a:avLst/>
          </a:prstGeom>
          <a:ln>
            <a:solidFill>
              <a:schemeClr val="tx1"/>
            </a:solidFill>
          </a:ln>
        </p:spPr>
      </p:pic>
    </p:spTree>
    <p:extLst>
      <p:ext uri="{BB962C8B-B14F-4D97-AF65-F5344CB8AC3E}">
        <p14:creationId xmlns:p14="http://schemas.microsoft.com/office/powerpoint/2010/main" val="20240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DE9EE-6C48-5079-1EC4-EC7D570643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775CC0-D257-6B4F-4F0F-B1069109F8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937BA87-9D39-7983-CFF3-29D27E8BF7F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DCFBBE3-DCE8-A5EB-0CC5-77E81F383FE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51436B0-ADE0-5F84-7BBF-6D9ADEE2C71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796BD71D-0E2E-943E-11B0-10778D63D854}"/>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(ENVIRONMENTAL FACTOR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2493D99-B8D3-C804-E4BA-ECB3FDF5545E}"/>
              </a:ext>
            </a:extLst>
          </p:cNvPr>
          <p:cNvSpPr txBox="1"/>
          <p:nvPr/>
        </p:nvSpPr>
        <p:spPr>
          <a:xfrm>
            <a:off x="675956" y="371744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EE2DF4BE-E48C-AAC8-CA45-728515740712}"/>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Temperature Analysis: Seasonal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average temperature differ across seasons? Is it associated with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A83D5528-3291-27F4-3087-BAA0FC9CAF7C}"/>
              </a:ext>
            </a:extLst>
          </p:cNvPr>
          <p:cNvSpPr txBox="1"/>
          <p:nvPr/>
        </p:nvSpPr>
        <p:spPr>
          <a:xfrm>
            <a:off x="675956" y="3971145"/>
            <a:ext cx="4221889" cy="2893100"/>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Temperature by Season' bar chart indicates that the Zaid season has the highest average temperature, followed by the Kharif season, and then the Rabi season, which experiences the lowest average temperature. This suggests that Zaid is the hottest agricultural season. </a:t>
            </a:r>
          </a:p>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Temperature and Yield is 0.01. This indicates an extremely weak positive linear relationship, suggesting that average temperature, in this dataset, has a negligible direct association with agricultural yield.</a:t>
            </a:r>
            <a:endParaRPr lang="en-IN" sz="200" b="1"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842B7EB-3F33-7244-96A7-8D50553A5156}"/>
              </a:ext>
            </a:extLst>
          </p:cNvPr>
          <p:cNvPicPr>
            <a:picLocks noChangeAspect="1"/>
          </p:cNvPicPr>
          <p:nvPr/>
        </p:nvPicPr>
        <p:blipFill>
          <a:blip r:embed="rId3"/>
          <a:stretch>
            <a:fillRect/>
          </a:stretch>
        </p:blipFill>
        <p:spPr>
          <a:xfrm>
            <a:off x="774945" y="1904515"/>
            <a:ext cx="2354336" cy="1251672"/>
          </a:xfrm>
          <a:prstGeom prst="rect">
            <a:avLst/>
          </a:prstGeom>
          <a:ln>
            <a:solidFill>
              <a:schemeClr val="tx1"/>
            </a:solidFill>
          </a:ln>
        </p:spPr>
      </p:pic>
      <p:pic>
        <p:nvPicPr>
          <p:cNvPr id="11" name="Picture 10">
            <a:extLst>
              <a:ext uri="{FF2B5EF4-FFF2-40B4-BE49-F238E27FC236}">
                <a16:creationId xmlns:a16="http://schemas.microsoft.com/office/drawing/2014/main" id="{0D199AA6-7D2F-D51E-8A60-E0FDE202DF98}"/>
              </a:ext>
            </a:extLst>
          </p:cNvPr>
          <p:cNvPicPr>
            <a:picLocks noChangeAspect="1"/>
          </p:cNvPicPr>
          <p:nvPr/>
        </p:nvPicPr>
        <p:blipFill>
          <a:blip r:embed="rId4"/>
          <a:stretch>
            <a:fillRect/>
          </a:stretch>
        </p:blipFill>
        <p:spPr>
          <a:xfrm>
            <a:off x="5017694" y="1777736"/>
            <a:ext cx="7018119" cy="4564698"/>
          </a:xfrm>
          <a:prstGeom prst="rect">
            <a:avLst/>
          </a:prstGeom>
          <a:ln>
            <a:solidFill>
              <a:schemeClr val="tx1"/>
            </a:solidFill>
          </a:ln>
        </p:spPr>
      </p:pic>
      <p:pic>
        <p:nvPicPr>
          <p:cNvPr id="14" name="Picture 13">
            <a:extLst>
              <a:ext uri="{FF2B5EF4-FFF2-40B4-BE49-F238E27FC236}">
                <a16:creationId xmlns:a16="http://schemas.microsoft.com/office/drawing/2014/main" id="{63533945-A0D8-8594-74A0-893A48183646}"/>
              </a:ext>
            </a:extLst>
          </p:cNvPr>
          <p:cNvPicPr>
            <a:picLocks noChangeAspect="1"/>
          </p:cNvPicPr>
          <p:nvPr/>
        </p:nvPicPr>
        <p:blipFill>
          <a:blip r:embed="rId5"/>
          <a:stretch>
            <a:fillRect/>
          </a:stretch>
        </p:blipFill>
        <p:spPr>
          <a:xfrm>
            <a:off x="774945" y="3279395"/>
            <a:ext cx="3476043" cy="423732"/>
          </a:xfrm>
          <a:prstGeom prst="rect">
            <a:avLst/>
          </a:prstGeom>
          <a:ln>
            <a:solidFill>
              <a:schemeClr val="tx1"/>
            </a:solidFill>
          </a:ln>
        </p:spPr>
      </p:pic>
    </p:spTree>
    <p:extLst>
      <p:ext uri="{BB962C8B-B14F-4D97-AF65-F5344CB8AC3E}">
        <p14:creationId xmlns:p14="http://schemas.microsoft.com/office/powerpoint/2010/main" val="263269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E809A-2046-E2EA-0BF6-C04518D2CB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B378F8-6514-A783-4CE7-9248AB5D404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FFFA304-BFE3-3D00-7BE1-5C24E369033D}"/>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9BFD356-2B84-BC3F-45B2-EE702B5287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BC9EFB5-38DF-54C8-FB06-2DE17FDE42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FAEBF53-75A4-CE02-4F8D-697677B648C7}"/>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(ENVIRONMENTAL FACTOR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3620E6A-5851-13EA-DC70-5342C7909878}"/>
              </a:ext>
            </a:extLst>
          </p:cNvPr>
          <p:cNvSpPr txBox="1"/>
          <p:nvPr/>
        </p:nvSpPr>
        <p:spPr>
          <a:xfrm>
            <a:off x="675956" y="368022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65104F17-83DE-7BA6-9FF0-68319D73E949}"/>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Soil Moisture Analysis: Seasonal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soil moisture vary across seasons? Is it associated with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5E3C8A78-DE0E-6700-319D-F856ECBE7147}"/>
              </a:ext>
            </a:extLst>
          </p:cNvPr>
          <p:cNvSpPr txBox="1"/>
          <p:nvPr/>
        </p:nvSpPr>
        <p:spPr>
          <a:xfrm>
            <a:off x="675956" y="3964900"/>
            <a:ext cx="4536130" cy="2893100"/>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Soil Moisture by Season' bar chart indicates that the Kharif season has the highest average soil moisture, followed by the Rabi season, and then the Zaid season, which experiences the lowest average soil moisture. This pattern aligns with the rainfall distribution, suggesting that higher rainfall contributes to increased soil moisture during the Kharif season. </a:t>
            </a:r>
          </a:p>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Soil Moisture and Yield is 0.01. This indicates an extremely weak positive linear relationship, suggesting that soil moisture, in this dataset, has a negligible direct association with agricultural yield.</a:t>
            </a:r>
            <a:endParaRPr lang="en-IN" sz="200" b="1"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DF07D0E-D5E4-1670-5709-DA0DEDF87D57}"/>
              </a:ext>
            </a:extLst>
          </p:cNvPr>
          <p:cNvPicPr>
            <a:picLocks noChangeAspect="1"/>
          </p:cNvPicPr>
          <p:nvPr/>
        </p:nvPicPr>
        <p:blipFill>
          <a:blip r:embed="rId3"/>
          <a:stretch>
            <a:fillRect/>
          </a:stretch>
        </p:blipFill>
        <p:spPr>
          <a:xfrm>
            <a:off x="810178" y="1855092"/>
            <a:ext cx="2117848" cy="1170844"/>
          </a:xfrm>
          <a:prstGeom prst="rect">
            <a:avLst/>
          </a:prstGeom>
          <a:ln>
            <a:solidFill>
              <a:schemeClr val="tx1"/>
            </a:solidFill>
          </a:ln>
        </p:spPr>
      </p:pic>
      <p:pic>
        <p:nvPicPr>
          <p:cNvPr id="9" name="Picture 8">
            <a:extLst>
              <a:ext uri="{FF2B5EF4-FFF2-40B4-BE49-F238E27FC236}">
                <a16:creationId xmlns:a16="http://schemas.microsoft.com/office/drawing/2014/main" id="{1AF22E4A-61DA-9706-1AC4-9ADFA561EA08}"/>
              </a:ext>
            </a:extLst>
          </p:cNvPr>
          <p:cNvPicPr>
            <a:picLocks noChangeAspect="1"/>
          </p:cNvPicPr>
          <p:nvPr/>
        </p:nvPicPr>
        <p:blipFill>
          <a:blip r:embed="rId4"/>
          <a:stretch>
            <a:fillRect/>
          </a:stretch>
        </p:blipFill>
        <p:spPr>
          <a:xfrm>
            <a:off x="5321030" y="1781307"/>
            <a:ext cx="6760724" cy="4475686"/>
          </a:xfrm>
          <a:prstGeom prst="rect">
            <a:avLst/>
          </a:prstGeom>
          <a:ln>
            <a:solidFill>
              <a:schemeClr val="tx1"/>
            </a:solidFill>
          </a:ln>
        </p:spPr>
      </p:pic>
      <p:pic>
        <p:nvPicPr>
          <p:cNvPr id="14" name="Picture 13">
            <a:extLst>
              <a:ext uri="{FF2B5EF4-FFF2-40B4-BE49-F238E27FC236}">
                <a16:creationId xmlns:a16="http://schemas.microsoft.com/office/drawing/2014/main" id="{43F28B57-7B3F-FA9A-C868-31D6D0BD1B62}"/>
              </a:ext>
            </a:extLst>
          </p:cNvPr>
          <p:cNvPicPr>
            <a:picLocks noChangeAspect="1"/>
          </p:cNvPicPr>
          <p:nvPr/>
        </p:nvPicPr>
        <p:blipFill>
          <a:blip r:embed="rId5"/>
          <a:stretch>
            <a:fillRect/>
          </a:stretch>
        </p:blipFill>
        <p:spPr>
          <a:xfrm>
            <a:off x="810178" y="3099721"/>
            <a:ext cx="3391194" cy="396240"/>
          </a:xfrm>
          <a:prstGeom prst="rect">
            <a:avLst/>
          </a:prstGeom>
          <a:ln>
            <a:solidFill>
              <a:schemeClr val="tx1"/>
            </a:solidFill>
          </a:ln>
        </p:spPr>
      </p:pic>
    </p:spTree>
    <p:extLst>
      <p:ext uri="{BB962C8B-B14F-4D97-AF65-F5344CB8AC3E}">
        <p14:creationId xmlns:p14="http://schemas.microsoft.com/office/powerpoint/2010/main" val="386371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767C-22EA-DFF1-4F7C-BB92D18F72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84E53B-6F45-7FE9-F421-CD153A8EBF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66595E-17D8-1F15-854D-1BC1B5DFA2E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7D4FCA9A-7549-6F69-7276-B8BC5E5405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281440C-0A1A-2722-D9FF-B2D7842E531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BC1A9F9A-22A8-8084-A514-78DCA9FDF9E0}"/>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(ENVIRONMENTAL FACTOR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6B520A2-C987-19C1-7C65-C99824B05DCA}"/>
              </a:ext>
            </a:extLst>
          </p:cNvPr>
          <p:cNvSpPr txBox="1"/>
          <p:nvPr/>
        </p:nvSpPr>
        <p:spPr>
          <a:xfrm>
            <a:off x="801245" y="2903369"/>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CFF85C9C-6BF5-4738-936D-4E711C7B292C}"/>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Humidity VS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Is humidity associated with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CEF4289-1048-74B7-744B-6C38A5D5CA6F}"/>
              </a:ext>
            </a:extLst>
          </p:cNvPr>
          <p:cNvSpPr txBox="1"/>
          <p:nvPr/>
        </p:nvSpPr>
        <p:spPr>
          <a:xfrm>
            <a:off x="801244" y="3188048"/>
            <a:ext cx="6678155" cy="954107"/>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Humidity and Yield is 0.01. This indicates an extremely weak positive linear relationship, suggesting that humidity, in this dataset, has a negligible direct association with agricultural yield.</a:t>
            </a:r>
            <a:endParaRPr lang="en-IN" sz="100" b="1"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C3A30E68-DC30-15B3-8AFB-0106B6894425}"/>
              </a:ext>
            </a:extLst>
          </p:cNvPr>
          <p:cNvPicPr>
            <a:picLocks noChangeAspect="1"/>
          </p:cNvPicPr>
          <p:nvPr/>
        </p:nvPicPr>
        <p:blipFill>
          <a:blip r:embed="rId3"/>
          <a:stretch>
            <a:fillRect/>
          </a:stretch>
        </p:blipFill>
        <p:spPr>
          <a:xfrm>
            <a:off x="801244" y="1921962"/>
            <a:ext cx="6407749" cy="497689"/>
          </a:xfrm>
          <a:prstGeom prst="rect">
            <a:avLst/>
          </a:prstGeom>
          <a:ln>
            <a:solidFill>
              <a:schemeClr val="tx1"/>
            </a:solidFill>
          </a:ln>
        </p:spPr>
      </p:pic>
    </p:spTree>
    <p:extLst>
      <p:ext uri="{BB962C8B-B14F-4D97-AF65-F5344CB8AC3E}">
        <p14:creationId xmlns:p14="http://schemas.microsoft.com/office/powerpoint/2010/main" val="213203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B48F-1A24-E155-E6E7-D5591D7479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29A2E80-E498-3F4F-5C0E-100B379DE92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3CF2392-347A-3799-36AE-8A19CA80A299}"/>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D960A71C-6A03-5397-9E09-1397E16FA11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4499694-FABB-F097-E06F-1D3C35DEE5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03F2E01B-7038-C634-9B12-17E9002D467A}"/>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(ENVIRONMENTAL FACTOR ANALYSIS)</a:t>
            </a:r>
            <a:endParaRPr lang="en-IN" sz="1800" b="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AD5CD87-0D4D-8B9F-74B9-1B9931FD67FE}"/>
              </a:ext>
            </a:extLst>
          </p:cNvPr>
          <p:cNvSpPr txBox="1"/>
          <p:nvPr/>
        </p:nvSpPr>
        <p:spPr>
          <a:xfrm>
            <a:off x="801245" y="2903369"/>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3" name="TextBox 2">
            <a:extLst>
              <a:ext uri="{FF2B5EF4-FFF2-40B4-BE49-F238E27FC236}">
                <a16:creationId xmlns:a16="http://schemas.microsoft.com/office/drawing/2014/main" id="{34DF1BE4-6DF1-6C3A-889B-CF75DC696F7B}"/>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Disease/Pest Risk vs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Is disease/pest risk associated with yield?</a:t>
            </a:r>
            <a:endParaRPr lang="en-IN" sz="16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6E7DFC5-7399-393F-AEC7-03EBCFC488D0}"/>
              </a:ext>
            </a:extLst>
          </p:cNvPr>
          <p:cNvSpPr txBox="1"/>
          <p:nvPr/>
        </p:nvSpPr>
        <p:spPr>
          <a:xfrm>
            <a:off x="801244" y="3188048"/>
            <a:ext cx="6678155" cy="954107"/>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Disease/Pest Risk and Yield is 0.01. This indicates an extremely weak positive linear relationship, suggesting that disease/pest risk, in this dataset, has a negligible direct association with agricultural yield.</a:t>
            </a:r>
            <a:endParaRPr lang="en-IN" sz="100" b="1"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20D3325-EE32-B097-9075-E4F3DDB5B815}"/>
              </a:ext>
            </a:extLst>
          </p:cNvPr>
          <p:cNvPicPr>
            <a:picLocks noChangeAspect="1"/>
          </p:cNvPicPr>
          <p:nvPr/>
        </p:nvPicPr>
        <p:blipFill>
          <a:blip r:embed="rId3"/>
          <a:stretch>
            <a:fillRect/>
          </a:stretch>
        </p:blipFill>
        <p:spPr>
          <a:xfrm>
            <a:off x="801244" y="1965702"/>
            <a:ext cx="6678155" cy="584775"/>
          </a:xfrm>
          <a:prstGeom prst="rect">
            <a:avLst/>
          </a:prstGeom>
          <a:ln>
            <a:solidFill>
              <a:schemeClr val="tx1"/>
            </a:solidFill>
          </a:ln>
        </p:spPr>
      </p:pic>
    </p:spTree>
    <p:extLst>
      <p:ext uri="{BB962C8B-B14F-4D97-AF65-F5344CB8AC3E}">
        <p14:creationId xmlns:p14="http://schemas.microsoft.com/office/powerpoint/2010/main" val="181414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0E28A-8B9B-D5F3-C6E7-627149F392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8418C8-57CE-31D5-DCD6-ECCCC17BBA4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2EF2727-B525-48B9-120E-EE5F50C31D60}"/>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328C6F07-D8C1-8942-A50C-8F7A1EC05D1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04889BE-7F6D-7533-FFF8-B27966D0B09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FC4730E7-4069-9247-586C-A9E991CAA3FD}"/>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2602780-D0BF-F00C-19B8-B6493DABB92F}"/>
              </a:ext>
            </a:extLst>
          </p:cNvPr>
          <p:cNvSpPr txBox="1"/>
          <p:nvPr/>
        </p:nvSpPr>
        <p:spPr>
          <a:xfrm>
            <a:off x="675956" y="1196532"/>
            <a:ext cx="9839644" cy="830997"/>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Irrigation Method Analysis: Water Efficiency and Yield Comparison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irrigation method provides better water efficiency, and how does yield vary across irrigation methods?</a:t>
            </a:r>
            <a:endParaRPr lang="en-IN" sz="16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8F69AFD-DCE0-8808-944E-88607128436C}"/>
              </a:ext>
            </a:extLst>
          </p:cNvPr>
          <p:cNvSpPr txBox="1"/>
          <p:nvPr/>
        </p:nvSpPr>
        <p:spPr>
          <a:xfrm>
            <a:off x="320982" y="5200519"/>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1" name="TextBox 10">
            <a:extLst>
              <a:ext uri="{FF2B5EF4-FFF2-40B4-BE49-F238E27FC236}">
                <a16:creationId xmlns:a16="http://schemas.microsoft.com/office/drawing/2014/main" id="{50CAF739-E5BA-28D3-31FC-69E8D70CD048}"/>
              </a:ext>
            </a:extLst>
          </p:cNvPr>
          <p:cNvSpPr txBox="1"/>
          <p:nvPr/>
        </p:nvSpPr>
        <p:spPr>
          <a:xfrm>
            <a:off x="320982" y="5495409"/>
            <a:ext cx="9016058" cy="1169551"/>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Water Efficiency by Irrigation Method' chart shows that 'Rainfed' agriculture has the highest water efficiency (7.56 tonnes/1000m³), followed by 'Drip' (6.27 tonnes/1000m³). However, the 'Average Yield by Irrigation Method' chart indicates that 'Drip' irrigation leads to the highest average yield (6.62 Tonnes/Hectare), suggesting it is the most effective method for maximizing yield, even though 'Rainfed' is more water-efficient.</a:t>
            </a:r>
            <a:endParaRPr lang="en-IN" sz="100" b="1" dirty="0">
              <a:solidFill>
                <a:srgbClr val="FF0000"/>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EF510D8B-FBFD-1C66-D7E1-E7376AFCF527}"/>
              </a:ext>
            </a:extLst>
          </p:cNvPr>
          <p:cNvPicPr>
            <a:picLocks noChangeAspect="1"/>
          </p:cNvPicPr>
          <p:nvPr/>
        </p:nvPicPr>
        <p:blipFill>
          <a:blip r:embed="rId3"/>
          <a:stretch>
            <a:fillRect/>
          </a:stretch>
        </p:blipFill>
        <p:spPr>
          <a:xfrm>
            <a:off x="108052" y="2095439"/>
            <a:ext cx="2604668" cy="2535390"/>
          </a:xfrm>
          <a:prstGeom prst="rect">
            <a:avLst/>
          </a:prstGeom>
          <a:ln>
            <a:solidFill>
              <a:schemeClr val="tx1"/>
            </a:solidFill>
          </a:ln>
        </p:spPr>
      </p:pic>
      <p:pic>
        <p:nvPicPr>
          <p:cNvPr id="16" name="Picture 15">
            <a:extLst>
              <a:ext uri="{FF2B5EF4-FFF2-40B4-BE49-F238E27FC236}">
                <a16:creationId xmlns:a16="http://schemas.microsoft.com/office/drawing/2014/main" id="{8FE75A15-7935-D513-6DBA-7F60639A6970}"/>
              </a:ext>
            </a:extLst>
          </p:cNvPr>
          <p:cNvPicPr>
            <a:picLocks noChangeAspect="1"/>
          </p:cNvPicPr>
          <p:nvPr/>
        </p:nvPicPr>
        <p:blipFill>
          <a:blip r:embed="rId4"/>
          <a:stretch>
            <a:fillRect/>
          </a:stretch>
        </p:blipFill>
        <p:spPr>
          <a:xfrm>
            <a:off x="2819082" y="1832970"/>
            <a:ext cx="9264865" cy="3440069"/>
          </a:xfrm>
          <a:prstGeom prst="rect">
            <a:avLst/>
          </a:prstGeom>
          <a:ln>
            <a:solidFill>
              <a:schemeClr val="tx1"/>
            </a:solidFill>
          </a:ln>
        </p:spPr>
      </p:pic>
    </p:spTree>
    <p:extLst>
      <p:ext uri="{BB962C8B-B14F-4D97-AF65-F5344CB8AC3E}">
        <p14:creationId xmlns:p14="http://schemas.microsoft.com/office/powerpoint/2010/main" val="382492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A5DB3-6B9F-69D9-EF90-95359A1C5E2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A6AB90-C35A-8D4D-32AB-A12D5324C13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5632C9-7128-046B-6764-9468773681D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9AC01BE4-E811-C78C-D548-E9D6FA1BF1C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BDC4504-53F0-381D-1118-ECE6155C6AF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7E15CDC8-E57A-4905-D235-4ECF3831270F}"/>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B5C1C3F-C907-2EAC-45D1-A069E3F854C3}"/>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Water Efficiency vs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Is Water Efficiency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7B553E4-041D-9C01-E35E-935A914487B7}"/>
              </a:ext>
            </a:extLst>
          </p:cNvPr>
          <p:cNvSpPr txBox="1"/>
          <p:nvPr/>
        </p:nvSpPr>
        <p:spPr>
          <a:xfrm>
            <a:off x="421783" y="274164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A15B61ED-2549-D6BE-8281-4AF58E08A73E}"/>
              </a:ext>
            </a:extLst>
          </p:cNvPr>
          <p:cNvSpPr txBox="1"/>
          <p:nvPr/>
        </p:nvSpPr>
        <p:spPr>
          <a:xfrm>
            <a:off x="421783" y="3029010"/>
            <a:ext cx="3996851" cy="3754874"/>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Water Efficiency and Yield is 0.92. This indicates a very strong positive linear relationship, suggesting that as water efficiency increases, agricultural yield also tends to increase significantly. </a:t>
            </a:r>
          </a:p>
          <a:p>
            <a:pPr algn="just"/>
            <a:r>
              <a:rPr lang="en-IN" sz="1400" b="1" dirty="0">
                <a:solidFill>
                  <a:srgbClr val="FF0000"/>
                </a:solidFill>
                <a:latin typeface="Arial" panose="020B0604020202020204" pitchFamily="34" charset="0"/>
                <a:cs typeface="Arial" panose="020B0604020202020204" pitchFamily="34" charset="0"/>
              </a:rPr>
              <a:t>The scatter plot of 'Water Efficiency vs Yield by Irrigation Method' visually confirms a strong positive correlation between water efficiency and yield. It shows that higher water efficiency generally leads to higher yields, and notably, 'Drip' irrigation appears to achieve both high water efficiency and high yields compared to other methods, while 'Rainfed' agriculture, despite having some high water efficiency points, shows a wider spread in yield.</a:t>
            </a:r>
            <a:endParaRPr lang="en-IN" sz="100" b="1" dirty="0">
              <a:solidFill>
                <a:srgbClr val="FF0000"/>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A1F5F933-40ED-B5E8-0E28-7F7DA03ADC45}"/>
              </a:ext>
            </a:extLst>
          </p:cNvPr>
          <p:cNvPicPr>
            <a:picLocks noChangeAspect="1"/>
          </p:cNvPicPr>
          <p:nvPr/>
        </p:nvPicPr>
        <p:blipFill>
          <a:blip r:embed="rId3"/>
          <a:stretch>
            <a:fillRect/>
          </a:stretch>
        </p:blipFill>
        <p:spPr>
          <a:xfrm>
            <a:off x="348843" y="2003590"/>
            <a:ext cx="3996851" cy="496562"/>
          </a:xfrm>
          <a:prstGeom prst="rect">
            <a:avLst/>
          </a:prstGeom>
          <a:ln>
            <a:solidFill>
              <a:schemeClr val="tx1"/>
            </a:solidFill>
          </a:ln>
        </p:spPr>
      </p:pic>
      <p:pic>
        <p:nvPicPr>
          <p:cNvPr id="18" name="Picture 17">
            <a:extLst>
              <a:ext uri="{FF2B5EF4-FFF2-40B4-BE49-F238E27FC236}">
                <a16:creationId xmlns:a16="http://schemas.microsoft.com/office/drawing/2014/main" id="{7AB50826-1423-21E5-666C-233D027E0C74}"/>
              </a:ext>
            </a:extLst>
          </p:cNvPr>
          <p:cNvPicPr>
            <a:picLocks noChangeAspect="1"/>
          </p:cNvPicPr>
          <p:nvPr/>
        </p:nvPicPr>
        <p:blipFill>
          <a:blip r:embed="rId4"/>
          <a:stretch>
            <a:fillRect/>
          </a:stretch>
        </p:blipFill>
        <p:spPr>
          <a:xfrm>
            <a:off x="4530734" y="1781307"/>
            <a:ext cx="7497610" cy="4824933"/>
          </a:xfrm>
          <a:prstGeom prst="rect">
            <a:avLst/>
          </a:prstGeom>
          <a:ln>
            <a:solidFill>
              <a:schemeClr val="tx1"/>
            </a:solidFill>
          </a:ln>
        </p:spPr>
      </p:pic>
    </p:spTree>
    <p:extLst>
      <p:ext uri="{BB962C8B-B14F-4D97-AF65-F5344CB8AC3E}">
        <p14:creationId xmlns:p14="http://schemas.microsoft.com/office/powerpoint/2010/main" val="83846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07A40-0DEC-632E-0E7F-5ADC3E7B0EC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E8D40D-8C83-83F8-CE89-F65AA385723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4C5EE4A-0E82-EE28-CDE1-B1054AB4135E}"/>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3E796A0D-46D7-0A92-07C3-44F4DA781D3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287C2E2-300C-04DA-6E90-5DB213CABE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DF1DEA9-20DD-54E5-0ABC-2EBE168D3AB6}"/>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79BF13B-C398-3DEE-BB55-3FC0F1DEA5E9}"/>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Seed Quality vs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Is seed quality associated with higher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41F2350-387D-369E-FD84-C88690F2F705}"/>
              </a:ext>
            </a:extLst>
          </p:cNvPr>
          <p:cNvSpPr txBox="1"/>
          <p:nvPr/>
        </p:nvSpPr>
        <p:spPr>
          <a:xfrm>
            <a:off x="604663" y="266138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CC6FB3B4-B8C6-A5AA-8DCB-8F930287A0E5}"/>
              </a:ext>
            </a:extLst>
          </p:cNvPr>
          <p:cNvSpPr txBox="1"/>
          <p:nvPr/>
        </p:nvSpPr>
        <p:spPr>
          <a:xfrm>
            <a:off x="604663" y="2948750"/>
            <a:ext cx="6954377" cy="954107"/>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Seed Quality and Yield is -0.01. This indicates an extremely weak negative linear relationship, suggesting that seed quality, in this dataset, has a negligible direct association with agricultural yield.</a:t>
            </a:r>
            <a:endParaRPr lang="en-IN" sz="100" b="1" dirty="0">
              <a:solidFill>
                <a:srgbClr val="FF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DF613AA-113B-18D3-8372-BF32B363F501}"/>
              </a:ext>
            </a:extLst>
          </p:cNvPr>
          <p:cNvPicPr>
            <a:picLocks noChangeAspect="1"/>
          </p:cNvPicPr>
          <p:nvPr/>
        </p:nvPicPr>
        <p:blipFill>
          <a:blip r:embed="rId3"/>
          <a:stretch>
            <a:fillRect/>
          </a:stretch>
        </p:blipFill>
        <p:spPr>
          <a:xfrm>
            <a:off x="675957" y="1895878"/>
            <a:ext cx="6598604" cy="463847"/>
          </a:xfrm>
          <a:prstGeom prst="rect">
            <a:avLst/>
          </a:prstGeom>
          <a:ln>
            <a:solidFill>
              <a:schemeClr val="tx1"/>
            </a:solidFill>
          </a:ln>
        </p:spPr>
      </p:pic>
    </p:spTree>
    <p:extLst>
      <p:ext uri="{BB962C8B-B14F-4D97-AF65-F5344CB8AC3E}">
        <p14:creationId xmlns:p14="http://schemas.microsoft.com/office/powerpoint/2010/main" val="3119540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3F9B0-5384-75BA-5B14-43E06A78A7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E28578-23F7-DA3F-6FE8-43EB1EBF795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2F5C3C2-4196-811D-F160-ADB10022FE9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01DB009A-CA47-D70A-4F93-9284D85A2A1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47D9BD4-4FE7-E795-CAF2-0841A3E7BEE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2D3B4D21-D98F-E3E0-D054-D3A24B3F3EE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610D6E4-228A-4106-69B4-414B3B79D760}"/>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Fertilizer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fertilizer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D370814-89E6-6132-D557-80FE59D9440C}"/>
              </a:ext>
            </a:extLst>
          </p:cNvPr>
          <p:cNvSpPr txBox="1"/>
          <p:nvPr/>
        </p:nvSpPr>
        <p:spPr>
          <a:xfrm>
            <a:off x="675956" y="3835217"/>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4D829013-38E0-21FE-188B-B38323ED9D24}"/>
              </a:ext>
            </a:extLst>
          </p:cNvPr>
          <p:cNvSpPr txBox="1"/>
          <p:nvPr/>
        </p:nvSpPr>
        <p:spPr>
          <a:xfrm>
            <a:off x="675956" y="4122587"/>
            <a:ext cx="3815027"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Fertilizer Usage by Season' bar chart indicates that the Kharif season has the highest average fertilizer usage, followed closely by Rabi, and then Zaid. While Kharif shows slightly higher usage, the overall variation in average fertilizer usage across the seasons is not substantial.</a:t>
            </a:r>
            <a:endParaRPr lang="en-IN" sz="100" b="1"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7A335239-32DF-4DA5-C42C-30BA76DD2289}"/>
              </a:ext>
            </a:extLst>
          </p:cNvPr>
          <p:cNvPicPr>
            <a:picLocks noChangeAspect="1"/>
          </p:cNvPicPr>
          <p:nvPr/>
        </p:nvPicPr>
        <p:blipFill>
          <a:blip r:embed="rId3"/>
          <a:stretch>
            <a:fillRect/>
          </a:stretch>
        </p:blipFill>
        <p:spPr>
          <a:xfrm>
            <a:off x="781879" y="1983576"/>
            <a:ext cx="2447457" cy="1433195"/>
          </a:xfrm>
          <a:prstGeom prst="rect">
            <a:avLst/>
          </a:prstGeom>
          <a:ln>
            <a:solidFill>
              <a:schemeClr val="tx1"/>
            </a:solidFill>
          </a:ln>
        </p:spPr>
      </p:pic>
      <p:pic>
        <p:nvPicPr>
          <p:cNvPr id="11" name="Picture 10">
            <a:extLst>
              <a:ext uri="{FF2B5EF4-FFF2-40B4-BE49-F238E27FC236}">
                <a16:creationId xmlns:a16="http://schemas.microsoft.com/office/drawing/2014/main" id="{FE33C161-AFF1-A25F-23CF-31C6DBE26CC5}"/>
              </a:ext>
            </a:extLst>
          </p:cNvPr>
          <p:cNvPicPr>
            <a:picLocks noChangeAspect="1"/>
          </p:cNvPicPr>
          <p:nvPr/>
        </p:nvPicPr>
        <p:blipFill>
          <a:blip r:embed="rId4"/>
          <a:stretch>
            <a:fillRect/>
          </a:stretch>
        </p:blipFill>
        <p:spPr>
          <a:xfrm>
            <a:off x="4630034" y="1733677"/>
            <a:ext cx="7362900" cy="4738243"/>
          </a:xfrm>
          <a:prstGeom prst="rect">
            <a:avLst/>
          </a:prstGeom>
          <a:ln>
            <a:solidFill>
              <a:schemeClr val="tx1"/>
            </a:solidFill>
          </a:ln>
        </p:spPr>
      </p:pic>
    </p:spTree>
    <p:extLst>
      <p:ext uri="{BB962C8B-B14F-4D97-AF65-F5344CB8AC3E}">
        <p14:creationId xmlns:p14="http://schemas.microsoft.com/office/powerpoint/2010/main" val="316751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C1C5B-3AD8-B12D-265C-68DEFCDB4AC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277A93-C299-BEE4-8F23-97F16C851FC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C30BBB1-74A8-53E7-2AB6-CB3FC320D2D2}"/>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101A18C8-DA10-2859-049B-A298338FC4B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0F471D5-E5E7-EFDD-3E62-CB7BAB03686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B5396C3C-8EB8-A18E-8ED5-FE54F97FFE3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91DEFF2-28E5-6301-54C1-BEEA6B4E2E40}"/>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Fertilizer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fertilizer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4CBBD5B-3BC2-260F-751A-44F8E9DB9182}"/>
              </a:ext>
            </a:extLst>
          </p:cNvPr>
          <p:cNvSpPr txBox="1"/>
          <p:nvPr/>
        </p:nvSpPr>
        <p:spPr>
          <a:xfrm>
            <a:off x="680009" y="427258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F2D1CE33-F9DC-42B3-167C-B82DBC9BF649}"/>
              </a:ext>
            </a:extLst>
          </p:cNvPr>
          <p:cNvSpPr txBox="1"/>
          <p:nvPr/>
        </p:nvSpPr>
        <p:spPr>
          <a:xfrm>
            <a:off x="675956" y="4559956"/>
            <a:ext cx="4028124"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Fertilizer Usage by Crop' bar chart indicates that Maize has the highest average fertilizer usage, followed closely by Chilli and Groundnut. The usage across most other crops like Rice, Cotton, Sugarcane, Pulses, and Wheat is relatively similar and only slightly lower, suggesting that while there are minor variations, fertilizer application rates do not differ drastically among the crops in this dataset.</a:t>
            </a:r>
            <a:endParaRPr lang="en-IN" sz="100" b="1" dirty="0">
              <a:solidFill>
                <a:srgbClr val="FF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3C90C73-E465-52DF-5B34-64655C2EBAD3}"/>
              </a:ext>
            </a:extLst>
          </p:cNvPr>
          <p:cNvPicPr>
            <a:picLocks noChangeAspect="1"/>
          </p:cNvPicPr>
          <p:nvPr/>
        </p:nvPicPr>
        <p:blipFill>
          <a:blip r:embed="rId3"/>
          <a:stretch>
            <a:fillRect/>
          </a:stretch>
        </p:blipFill>
        <p:spPr>
          <a:xfrm>
            <a:off x="805755" y="1782991"/>
            <a:ext cx="2536885" cy="2410733"/>
          </a:xfrm>
          <a:prstGeom prst="rect">
            <a:avLst/>
          </a:prstGeom>
          <a:ln>
            <a:solidFill>
              <a:schemeClr val="tx1"/>
            </a:solidFill>
          </a:ln>
        </p:spPr>
      </p:pic>
      <p:pic>
        <p:nvPicPr>
          <p:cNvPr id="14" name="Picture 13">
            <a:extLst>
              <a:ext uri="{FF2B5EF4-FFF2-40B4-BE49-F238E27FC236}">
                <a16:creationId xmlns:a16="http://schemas.microsoft.com/office/drawing/2014/main" id="{C3513BB7-CA64-ED1A-FAA8-805F4C6571E5}"/>
              </a:ext>
            </a:extLst>
          </p:cNvPr>
          <p:cNvPicPr>
            <a:picLocks noChangeAspect="1"/>
          </p:cNvPicPr>
          <p:nvPr/>
        </p:nvPicPr>
        <p:blipFill>
          <a:blip r:embed="rId4"/>
          <a:stretch>
            <a:fillRect/>
          </a:stretch>
        </p:blipFill>
        <p:spPr>
          <a:xfrm>
            <a:off x="4886960" y="1765204"/>
            <a:ext cx="7100548" cy="4569412"/>
          </a:xfrm>
          <a:prstGeom prst="rect">
            <a:avLst/>
          </a:prstGeom>
          <a:ln>
            <a:solidFill>
              <a:schemeClr val="tx1"/>
            </a:solidFill>
          </a:ln>
        </p:spPr>
      </p:pic>
    </p:spTree>
    <p:extLst>
      <p:ext uri="{BB962C8B-B14F-4D97-AF65-F5344CB8AC3E}">
        <p14:creationId xmlns:p14="http://schemas.microsoft.com/office/powerpoint/2010/main" val="422037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6AD1E-DE3A-99D4-2633-0A0F002AB7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D95D39-5216-10BC-1F26-CBD8645BED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005B948-969E-C5A9-D3F5-C4321153A8A7}"/>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2A7ECDB4-9799-608B-9293-95DC8F3E0AA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4B398C-7350-E594-1362-E1927097079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A454AEEB-E304-FAAD-DF6D-A525E7B6E2C0}"/>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3BBFE65-09BC-BC70-7B18-EAB08DBE1F8E}"/>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Fertilizer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fertilizer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6364E88-1698-7775-7630-2A6D3C664526}"/>
              </a:ext>
            </a:extLst>
          </p:cNvPr>
          <p:cNvSpPr txBox="1"/>
          <p:nvPr/>
        </p:nvSpPr>
        <p:spPr>
          <a:xfrm>
            <a:off x="680009" y="2872035"/>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7846FF1E-7381-7B85-196B-8127E253B51D}"/>
              </a:ext>
            </a:extLst>
          </p:cNvPr>
          <p:cNvSpPr txBox="1"/>
          <p:nvPr/>
        </p:nvSpPr>
        <p:spPr>
          <a:xfrm>
            <a:off x="675956" y="3159405"/>
            <a:ext cx="6679884" cy="954107"/>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Pearson Correlation coefficient between Fertilizer Usage and Yield is 0.00. This indicates an extremely weak, practically non-existent, linear relationship, suggesting that fertilizer usage, in this dataset, has no direct association with agricultural yield.</a:t>
            </a:r>
            <a:endParaRPr lang="en-IN" sz="100" b="1" dirty="0">
              <a:solidFill>
                <a:srgbClr val="FF0000"/>
              </a:solidFill>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20DDF60D-32A7-4F0F-7EF2-2DBFC8414518}"/>
              </a:ext>
            </a:extLst>
          </p:cNvPr>
          <p:cNvPicPr>
            <a:picLocks noChangeAspect="1"/>
          </p:cNvPicPr>
          <p:nvPr/>
        </p:nvPicPr>
        <p:blipFill>
          <a:blip r:embed="rId3"/>
          <a:stretch>
            <a:fillRect/>
          </a:stretch>
        </p:blipFill>
        <p:spPr>
          <a:xfrm>
            <a:off x="737394" y="1901485"/>
            <a:ext cx="6294018" cy="479544"/>
          </a:xfrm>
          <a:prstGeom prst="rect">
            <a:avLst/>
          </a:prstGeom>
          <a:ln>
            <a:solidFill>
              <a:schemeClr val="tx1"/>
            </a:solidFill>
          </a:ln>
        </p:spPr>
      </p:pic>
    </p:spTree>
    <p:extLst>
      <p:ext uri="{BB962C8B-B14F-4D97-AF65-F5344CB8AC3E}">
        <p14:creationId xmlns:p14="http://schemas.microsoft.com/office/powerpoint/2010/main" val="495339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D9962-8105-5D90-CBAE-7015AF91C1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83FE68-1A22-243A-1582-2D24B94D1CD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7A5A3CB-7818-975E-2F2A-BB53B82F5C53}"/>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8F2554BB-0143-3830-73F1-E7AF3505F13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2EA4B07-7033-C2D1-ECA3-46E5F41FBDD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1BBA0E3-4E28-AB10-F73A-7A522FC21C66}"/>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422EF64-76BE-2259-4C6A-46BDC86A0BCF}"/>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Pesticide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pesticide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06402A9-D4BA-54F9-D6DD-A37F47F34CA5}"/>
              </a:ext>
            </a:extLst>
          </p:cNvPr>
          <p:cNvSpPr txBox="1"/>
          <p:nvPr/>
        </p:nvSpPr>
        <p:spPr>
          <a:xfrm>
            <a:off x="680009" y="4107753"/>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pic>
        <p:nvPicPr>
          <p:cNvPr id="9" name="Picture 8">
            <a:extLst>
              <a:ext uri="{FF2B5EF4-FFF2-40B4-BE49-F238E27FC236}">
                <a16:creationId xmlns:a16="http://schemas.microsoft.com/office/drawing/2014/main" id="{1D7F87A2-E82F-CF6F-4BCA-ED6515844CC0}"/>
              </a:ext>
            </a:extLst>
          </p:cNvPr>
          <p:cNvPicPr>
            <a:picLocks noChangeAspect="1"/>
          </p:cNvPicPr>
          <p:nvPr/>
        </p:nvPicPr>
        <p:blipFill>
          <a:blip r:embed="rId3"/>
          <a:stretch>
            <a:fillRect/>
          </a:stretch>
        </p:blipFill>
        <p:spPr>
          <a:xfrm>
            <a:off x="766823" y="1905320"/>
            <a:ext cx="2588152" cy="1352656"/>
          </a:xfrm>
          <a:prstGeom prst="rect">
            <a:avLst/>
          </a:prstGeom>
          <a:ln>
            <a:solidFill>
              <a:schemeClr val="tx1"/>
            </a:solidFill>
          </a:ln>
        </p:spPr>
      </p:pic>
      <p:pic>
        <p:nvPicPr>
          <p:cNvPr id="11" name="Picture 10">
            <a:extLst>
              <a:ext uri="{FF2B5EF4-FFF2-40B4-BE49-F238E27FC236}">
                <a16:creationId xmlns:a16="http://schemas.microsoft.com/office/drawing/2014/main" id="{2C4C9935-8957-20C7-E2BB-0127E491704F}"/>
              </a:ext>
            </a:extLst>
          </p:cNvPr>
          <p:cNvPicPr>
            <a:picLocks noChangeAspect="1"/>
          </p:cNvPicPr>
          <p:nvPr/>
        </p:nvPicPr>
        <p:blipFill>
          <a:blip r:embed="rId4"/>
          <a:stretch>
            <a:fillRect/>
          </a:stretch>
        </p:blipFill>
        <p:spPr>
          <a:xfrm>
            <a:off x="4800520" y="1813980"/>
            <a:ext cx="7263547" cy="4769700"/>
          </a:xfrm>
          <a:prstGeom prst="rect">
            <a:avLst/>
          </a:prstGeom>
          <a:ln>
            <a:solidFill>
              <a:schemeClr val="tx1"/>
            </a:solidFill>
          </a:ln>
        </p:spPr>
      </p:pic>
      <p:sp>
        <p:nvSpPr>
          <p:cNvPr id="15" name="TextBox 14">
            <a:extLst>
              <a:ext uri="{FF2B5EF4-FFF2-40B4-BE49-F238E27FC236}">
                <a16:creationId xmlns:a16="http://schemas.microsoft.com/office/drawing/2014/main" id="{3CEAD7CA-1E89-E563-D572-05D98F95D0A8}"/>
              </a:ext>
            </a:extLst>
          </p:cNvPr>
          <p:cNvSpPr txBox="1"/>
          <p:nvPr/>
        </p:nvSpPr>
        <p:spPr>
          <a:xfrm>
            <a:off x="675149" y="4535784"/>
            <a:ext cx="3825731"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Pesticide Usage by Season' bar chart indicates that Zaid has the highest average pesticide usage, followed closely by Kharif and Rabi. The differences across the three seasons are relatively small, suggesting that pesticide application rates remain fairly consistent across seasons in this dataset.</a:t>
            </a:r>
            <a:endParaRPr lang="en-IN" sz="1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358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6CBD-A4C7-C36D-A22A-361FA98ED0A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82BE5B-203B-6A41-A361-B24361E6471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410DF21-2C99-7AEB-4C32-2B56520D2F37}"/>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3F168AC-5CB0-D9B9-B378-FBBB4A3CA35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CCA909E-F36B-0DB1-B94A-7A272ED490F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BD424C96-7448-E9BD-7922-3772E6254CA8}"/>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CCE3BEB-3262-5B60-53EC-500861DC805B}"/>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Pesticide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pesticide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DAE274F-B5B7-C481-D87C-C1BC4B7C7E6F}"/>
              </a:ext>
            </a:extLst>
          </p:cNvPr>
          <p:cNvSpPr txBox="1"/>
          <p:nvPr/>
        </p:nvSpPr>
        <p:spPr>
          <a:xfrm>
            <a:off x="680009" y="4107753"/>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5" name="TextBox 14">
            <a:extLst>
              <a:ext uri="{FF2B5EF4-FFF2-40B4-BE49-F238E27FC236}">
                <a16:creationId xmlns:a16="http://schemas.microsoft.com/office/drawing/2014/main" id="{FDCABE5D-DA5E-0105-C248-51DA1AB493FA}"/>
              </a:ext>
            </a:extLst>
          </p:cNvPr>
          <p:cNvSpPr txBox="1"/>
          <p:nvPr/>
        </p:nvSpPr>
        <p:spPr>
          <a:xfrm>
            <a:off x="675149" y="4535784"/>
            <a:ext cx="3825731"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Pesticide Usage by Crop' bar chart indicates that Groundnut has the highest average pesticide usage, followed closely by Chilli, Cotton, and Maize. Rice, Sugarcane, Wheat, and Pulses show slightly lower average usage, although the differences across crops are relatively small, suggesting that pesticide application rates are fairly consistent among the crops in this dataset.</a:t>
            </a:r>
          </a:p>
        </p:txBody>
      </p:sp>
      <p:pic>
        <p:nvPicPr>
          <p:cNvPr id="12" name="Picture 11">
            <a:extLst>
              <a:ext uri="{FF2B5EF4-FFF2-40B4-BE49-F238E27FC236}">
                <a16:creationId xmlns:a16="http://schemas.microsoft.com/office/drawing/2014/main" id="{3D1011EA-CA1B-1904-ACAF-628E3BAB8B02}"/>
              </a:ext>
            </a:extLst>
          </p:cNvPr>
          <p:cNvPicPr>
            <a:picLocks noChangeAspect="1"/>
          </p:cNvPicPr>
          <p:nvPr/>
        </p:nvPicPr>
        <p:blipFill>
          <a:blip r:embed="rId3"/>
          <a:stretch>
            <a:fillRect/>
          </a:stretch>
        </p:blipFill>
        <p:spPr>
          <a:xfrm>
            <a:off x="776745" y="1822278"/>
            <a:ext cx="2042337" cy="2133785"/>
          </a:xfrm>
          <a:prstGeom prst="rect">
            <a:avLst/>
          </a:prstGeom>
          <a:ln>
            <a:solidFill>
              <a:schemeClr val="tx1"/>
            </a:solidFill>
          </a:ln>
        </p:spPr>
      </p:pic>
      <p:pic>
        <p:nvPicPr>
          <p:cNvPr id="14" name="Picture 13">
            <a:extLst>
              <a:ext uri="{FF2B5EF4-FFF2-40B4-BE49-F238E27FC236}">
                <a16:creationId xmlns:a16="http://schemas.microsoft.com/office/drawing/2014/main" id="{399B0999-128D-9CEA-84C6-6F13E85526FB}"/>
              </a:ext>
            </a:extLst>
          </p:cNvPr>
          <p:cNvPicPr>
            <a:picLocks noChangeAspect="1"/>
          </p:cNvPicPr>
          <p:nvPr/>
        </p:nvPicPr>
        <p:blipFill>
          <a:blip r:embed="rId4"/>
          <a:stretch>
            <a:fillRect/>
          </a:stretch>
        </p:blipFill>
        <p:spPr>
          <a:xfrm>
            <a:off x="4804790" y="1822278"/>
            <a:ext cx="7267156" cy="4772070"/>
          </a:xfrm>
          <a:prstGeom prst="rect">
            <a:avLst/>
          </a:prstGeom>
          <a:ln>
            <a:solidFill>
              <a:schemeClr val="tx1"/>
            </a:solidFill>
          </a:ln>
        </p:spPr>
      </p:pic>
    </p:spTree>
    <p:extLst>
      <p:ext uri="{BB962C8B-B14F-4D97-AF65-F5344CB8AC3E}">
        <p14:creationId xmlns:p14="http://schemas.microsoft.com/office/powerpoint/2010/main" val="266898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F896-FFBF-4D44-E981-8B143C0ED15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34AAC6C-F68F-ACD7-3E88-8DA06FAE49D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58AB65E-EC88-D2F9-90DE-E4B317A33059}"/>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99103E39-0A3A-7CF7-81D8-9968EC1706F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82F0018-30EB-1467-1B4E-47C27ED2C39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69676882-0960-39A0-7CE6-BBC4D4593F27}"/>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D971B48-7EFC-502D-4857-87C57C7DDEDC}"/>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Pesticide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pesticide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15E7892-2D56-1D5A-0502-4E274F191839}"/>
              </a:ext>
            </a:extLst>
          </p:cNvPr>
          <p:cNvSpPr txBox="1"/>
          <p:nvPr/>
        </p:nvSpPr>
        <p:spPr>
          <a:xfrm>
            <a:off x="797052" y="287214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5" name="TextBox 14">
            <a:extLst>
              <a:ext uri="{FF2B5EF4-FFF2-40B4-BE49-F238E27FC236}">
                <a16:creationId xmlns:a16="http://schemas.microsoft.com/office/drawing/2014/main" id="{86DDA3C5-7682-0894-DB38-FB5D627019A7}"/>
              </a:ext>
            </a:extLst>
          </p:cNvPr>
          <p:cNvSpPr txBox="1"/>
          <p:nvPr/>
        </p:nvSpPr>
        <p:spPr>
          <a:xfrm>
            <a:off x="792192" y="3300171"/>
            <a:ext cx="6665248" cy="954107"/>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correlation coefficient between Pesticide Usage and Yield is -0.01, indicating a negligible negative association. This suggests that pesticide usage has almost no linear relationship with agricultural yield in the given dataset.</a:t>
            </a:r>
          </a:p>
        </p:txBody>
      </p:sp>
      <p:pic>
        <p:nvPicPr>
          <p:cNvPr id="9" name="Picture 8">
            <a:extLst>
              <a:ext uri="{FF2B5EF4-FFF2-40B4-BE49-F238E27FC236}">
                <a16:creationId xmlns:a16="http://schemas.microsoft.com/office/drawing/2014/main" id="{334B8BA3-F717-1E02-CEA5-E49760432D4D}"/>
              </a:ext>
            </a:extLst>
          </p:cNvPr>
          <p:cNvPicPr>
            <a:picLocks noChangeAspect="1"/>
          </p:cNvPicPr>
          <p:nvPr/>
        </p:nvPicPr>
        <p:blipFill>
          <a:blip r:embed="rId3"/>
          <a:stretch>
            <a:fillRect/>
          </a:stretch>
        </p:blipFill>
        <p:spPr>
          <a:xfrm>
            <a:off x="792192" y="1989802"/>
            <a:ext cx="6146400" cy="427824"/>
          </a:xfrm>
          <a:prstGeom prst="rect">
            <a:avLst/>
          </a:prstGeom>
          <a:ln>
            <a:solidFill>
              <a:schemeClr val="tx1"/>
            </a:solidFill>
          </a:ln>
        </p:spPr>
      </p:pic>
    </p:spTree>
    <p:extLst>
      <p:ext uri="{BB962C8B-B14F-4D97-AF65-F5344CB8AC3E}">
        <p14:creationId xmlns:p14="http://schemas.microsoft.com/office/powerpoint/2010/main" val="1556318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97754-7B1F-536B-8D7B-8315FE7C91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3DCD78C-9858-9FCE-88B2-178E9DEE18A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825A30C-8F9F-1722-EBFD-639B86E9904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FAE1453B-ABE6-0ADC-8682-ED61DD98F20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2FA3F9D-C058-A740-4913-390FD39CF38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13B85368-2AA7-E3D5-D276-F35636E4D289}"/>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BD2CCBE-05EE-067A-B4B0-6608549614B2}"/>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Nutrient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nutrient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8FD225A-C7D9-89F4-421B-BC99A94A2346}"/>
              </a:ext>
            </a:extLst>
          </p:cNvPr>
          <p:cNvSpPr txBox="1"/>
          <p:nvPr/>
        </p:nvSpPr>
        <p:spPr>
          <a:xfrm>
            <a:off x="680816" y="402995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5" name="TextBox 14">
            <a:extLst>
              <a:ext uri="{FF2B5EF4-FFF2-40B4-BE49-F238E27FC236}">
                <a16:creationId xmlns:a16="http://schemas.microsoft.com/office/drawing/2014/main" id="{A752CC09-3F62-52D6-4F44-4E4AC5BE283C}"/>
              </a:ext>
            </a:extLst>
          </p:cNvPr>
          <p:cNvSpPr txBox="1"/>
          <p:nvPr/>
        </p:nvSpPr>
        <p:spPr>
          <a:xfrm>
            <a:off x="675956" y="4337728"/>
            <a:ext cx="3923770"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Nutrient Usage Across Seasons' bar chart shows that Nitrogen has the highest average usage across all three seasons, followed by Potassium and Phosphorus. NPK usage remains relatively consistent across Kharif, Rabi, and Zaid, with only minor seasonal variations in the average application of each nutrient.</a:t>
            </a:r>
          </a:p>
        </p:txBody>
      </p:sp>
      <p:pic>
        <p:nvPicPr>
          <p:cNvPr id="9" name="Picture 8">
            <a:extLst>
              <a:ext uri="{FF2B5EF4-FFF2-40B4-BE49-F238E27FC236}">
                <a16:creationId xmlns:a16="http://schemas.microsoft.com/office/drawing/2014/main" id="{1F69BA7D-EA1F-2AE5-729F-AA4407A80802}"/>
              </a:ext>
            </a:extLst>
          </p:cNvPr>
          <p:cNvPicPr>
            <a:picLocks noChangeAspect="1"/>
          </p:cNvPicPr>
          <p:nvPr/>
        </p:nvPicPr>
        <p:blipFill>
          <a:blip r:embed="rId3"/>
          <a:stretch>
            <a:fillRect/>
          </a:stretch>
        </p:blipFill>
        <p:spPr>
          <a:xfrm>
            <a:off x="768441" y="1857061"/>
            <a:ext cx="3831285" cy="1219478"/>
          </a:xfrm>
          <a:prstGeom prst="rect">
            <a:avLst/>
          </a:prstGeom>
          <a:ln>
            <a:solidFill>
              <a:schemeClr val="tx1"/>
            </a:solidFill>
          </a:ln>
        </p:spPr>
      </p:pic>
      <p:pic>
        <p:nvPicPr>
          <p:cNvPr id="11" name="Picture 10">
            <a:extLst>
              <a:ext uri="{FF2B5EF4-FFF2-40B4-BE49-F238E27FC236}">
                <a16:creationId xmlns:a16="http://schemas.microsoft.com/office/drawing/2014/main" id="{F09284BE-6225-E082-D0CA-2AA46A3924B5}"/>
              </a:ext>
            </a:extLst>
          </p:cNvPr>
          <p:cNvPicPr>
            <a:picLocks noChangeAspect="1"/>
          </p:cNvPicPr>
          <p:nvPr/>
        </p:nvPicPr>
        <p:blipFill>
          <a:blip r:embed="rId4"/>
          <a:stretch>
            <a:fillRect/>
          </a:stretch>
        </p:blipFill>
        <p:spPr>
          <a:xfrm>
            <a:off x="4765040" y="1857060"/>
            <a:ext cx="7294880" cy="4889179"/>
          </a:xfrm>
          <a:prstGeom prst="rect">
            <a:avLst/>
          </a:prstGeom>
          <a:ln>
            <a:solidFill>
              <a:schemeClr val="tx1"/>
            </a:solidFill>
          </a:ln>
        </p:spPr>
      </p:pic>
    </p:spTree>
    <p:extLst>
      <p:ext uri="{BB962C8B-B14F-4D97-AF65-F5344CB8AC3E}">
        <p14:creationId xmlns:p14="http://schemas.microsoft.com/office/powerpoint/2010/main" val="373438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8556-7450-76FE-B60C-F345938F2B5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347FD2-42B2-D6AE-BD1D-F81BC0E0385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CB9F19-A97B-33E8-1A00-8B96B90667BD}"/>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747297D1-7DF2-994C-C66F-9293E153547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AD2CA08-9A8E-5D06-2050-E27100833FF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91B47498-7F80-39FB-7458-EF03595C00A4}"/>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FAF5106-3411-504A-520F-7773470776A6}"/>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Nutrient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nutrient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CC55C51-3ADF-F6D3-1CE9-28900B352419}"/>
              </a:ext>
            </a:extLst>
          </p:cNvPr>
          <p:cNvSpPr txBox="1"/>
          <p:nvPr/>
        </p:nvSpPr>
        <p:spPr>
          <a:xfrm>
            <a:off x="503236" y="4088010"/>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5" name="TextBox 14">
            <a:extLst>
              <a:ext uri="{FF2B5EF4-FFF2-40B4-BE49-F238E27FC236}">
                <a16:creationId xmlns:a16="http://schemas.microsoft.com/office/drawing/2014/main" id="{8FCCA785-2549-4D41-2277-F385E486FEAA}"/>
              </a:ext>
            </a:extLst>
          </p:cNvPr>
          <p:cNvSpPr txBox="1"/>
          <p:nvPr/>
        </p:nvSpPr>
        <p:spPr>
          <a:xfrm>
            <a:off x="503236" y="4395787"/>
            <a:ext cx="3669738" cy="2462213"/>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Nutrient Usage by Crop' bar chart shows that Nitrogen has the highest average application across all crops, followed by Potassium and Phosphorus. Maize has the highest average Nitrogen usage, while Sugarcane has the highest average Phosphorus usage. Overall, nutrient application levels are relatively consistent across crops, with only minor variations in NPK usage.</a:t>
            </a:r>
          </a:p>
        </p:txBody>
      </p:sp>
      <p:pic>
        <p:nvPicPr>
          <p:cNvPr id="11" name="Picture 10">
            <a:extLst>
              <a:ext uri="{FF2B5EF4-FFF2-40B4-BE49-F238E27FC236}">
                <a16:creationId xmlns:a16="http://schemas.microsoft.com/office/drawing/2014/main" id="{C153E2E7-3359-B9AF-1FDC-A9FDB9D39546}"/>
              </a:ext>
            </a:extLst>
          </p:cNvPr>
          <p:cNvPicPr>
            <a:picLocks noChangeAspect="1"/>
          </p:cNvPicPr>
          <p:nvPr/>
        </p:nvPicPr>
        <p:blipFill>
          <a:blip r:embed="rId3"/>
          <a:stretch>
            <a:fillRect/>
          </a:stretch>
        </p:blipFill>
        <p:spPr>
          <a:xfrm>
            <a:off x="623561" y="1851896"/>
            <a:ext cx="3549413" cy="2149026"/>
          </a:xfrm>
          <a:prstGeom prst="rect">
            <a:avLst/>
          </a:prstGeom>
          <a:ln>
            <a:solidFill>
              <a:schemeClr val="tx1"/>
            </a:solidFill>
          </a:ln>
        </p:spPr>
      </p:pic>
      <p:pic>
        <p:nvPicPr>
          <p:cNvPr id="2" name="Picture 1">
            <a:extLst>
              <a:ext uri="{FF2B5EF4-FFF2-40B4-BE49-F238E27FC236}">
                <a16:creationId xmlns:a16="http://schemas.microsoft.com/office/drawing/2014/main" id="{5C54ADC3-8082-9438-1575-67EDFBFC66D0}"/>
              </a:ext>
            </a:extLst>
          </p:cNvPr>
          <p:cNvPicPr>
            <a:picLocks noChangeAspect="1"/>
          </p:cNvPicPr>
          <p:nvPr/>
        </p:nvPicPr>
        <p:blipFill>
          <a:blip r:embed="rId4"/>
          <a:stretch>
            <a:fillRect/>
          </a:stretch>
        </p:blipFill>
        <p:spPr>
          <a:xfrm>
            <a:off x="4267200" y="1851896"/>
            <a:ext cx="7813040" cy="4894344"/>
          </a:xfrm>
          <a:prstGeom prst="rect">
            <a:avLst/>
          </a:prstGeom>
          <a:ln>
            <a:solidFill>
              <a:schemeClr val="tx1"/>
            </a:solidFill>
          </a:ln>
        </p:spPr>
      </p:pic>
    </p:spTree>
    <p:extLst>
      <p:ext uri="{BB962C8B-B14F-4D97-AF65-F5344CB8AC3E}">
        <p14:creationId xmlns:p14="http://schemas.microsoft.com/office/powerpoint/2010/main" val="412562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7C0A7-7D6D-AE0E-EC28-8A90B892C1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377AB9-4CDC-89FC-25FC-BB7F70D41B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1AE36CF-1BCF-D5B0-FCF8-C45CC8F79A3F}"/>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623BC324-F0C2-DE8C-C997-6AFD95D5B45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36DC429-6AA6-0CBB-1BFE-CCC07F01995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D2C7F28E-7594-92C1-D92F-DDEB74A93AB7}"/>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(FARMING PRACTICE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95EB51B-49FF-9AED-714F-3E409AAE0CD7}"/>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Nutrient Analysis: Seasonal Variation, Crop Variation and Association with Yield</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How does nutrient usage vary across seasons and crops? Is it associated with yield?</a:t>
            </a:r>
            <a:endParaRPr lang="en-IN" sz="16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7B17298-06E8-BD0A-0660-697F3DFCB83C}"/>
              </a:ext>
            </a:extLst>
          </p:cNvPr>
          <p:cNvSpPr txBox="1"/>
          <p:nvPr/>
        </p:nvSpPr>
        <p:spPr>
          <a:xfrm>
            <a:off x="855019" y="3250409"/>
            <a:ext cx="2004075" cy="307777"/>
          </a:xfrm>
          <a:prstGeom prst="rect">
            <a:avLst/>
          </a:prstGeom>
          <a:noFill/>
        </p:spPr>
        <p:txBody>
          <a:bodyPr wrap="squar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5" name="TextBox 14">
            <a:extLst>
              <a:ext uri="{FF2B5EF4-FFF2-40B4-BE49-F238E27FC236}">
                <a16:creationId xmlns:a16="http://schemas.microsoft.com/office/drawing/2014/main" id="{FFC0469F-0E4C-8299-844C-490F659A2CE2}"/>
              </a:ext>
            </a:extLst>
          </p:cNvPr>
          <p:cNvSpPr txBox="1"/>
          <p:nvPr/>
        </p:nvSpPr>
        <p:spPr>
          <a:xfrm>
            <a:off x="850158" y="3616245"/>
            <a:ext cx="8121121" cy="954107"/>
          </a:xfrm>
          <a:prstGeom prst="rect">
            <a:avLst/>
          </a:prstGeom>
          <a:noFill/>
        </p:spPr>
        <p:txBody>
          <a:bodyPr wrap="square" rtlCol="0">
            <a:spAutoFit/>
          </a:bodyPr>
          <a:lstStyle/>
          <a:p>
            <a:r>
              <a:rPr lang="en-IN" sz="1400" b="1" dirty="0">
                <a:solidFill>
                  <a:srgbClr val="FF0000"/>
                </a:solidFill>
                <a:latin typeface="Arial" panose="020B0604020202020204" pitchFamily="34" charset="0"/>
                <a:cs typeface="Arial" panose="020B0604020202020204" pitchFamily="34" charset="0"/>
              </a:rPr>
              <a:t>The correlation analysis shows that Nitrogen and Phosphorus each have a correlation of 0.05 with Yield, while Potassium has a correlation of 0.00. These values indicate negligible positive associations, suggesting that individual NPK usage has very little linear relationship with agricultural yield in this dataset.</a:t>
            </a:r>
            <a:endParaRPr lang="en-IN" sz="1400" dirty="0">
              <a:solidFill>
                <a:srgbClr val="FF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0F07CB25-D968-D69F-3A7C-FBA6891C09AD}"/>
              </a:ext>
            </a:extLst>
          </p:cNvPr>
          <p:cNvPicPr>
            <a:picLocks noChangeAspect="1"/>
          </p:cNvPicPr>
          <p:nvPr/>
        </p:nvPicPr>
        <p:blipFill>
          <a:blip r:embed="rId3"/>
          <a:stretch>
            <a:fillRect/>
          </a:stretch>
        </p:blipFill>
        <p:spPr>
          <a:xfrm>
            <a:off x="850159" y="2027529"/>
            <a:ext cx="4919325" cy="800520"/>
          </a:xfrm>
          <a:prstGeom prst="rect">
            <a:avLst/>
          </a:prstGeom>
          <a:ln>
            <a:solidFill>
              <a:schemeClr val="tx1"/>
            </a:solidFill>
          </a:ln>
        </p:spPr>
      </p:pic>
    </p:spTree>
    <p:extLst>
      <p:ext uri="{BB962C8B-B14F-4D97-AF65-F5344CB8AC3E}">
        <p14:creationId xmlns:p14="http://schemas.microsoft.com/office/powerpoint/2010/main" val="163204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41F7-D6ED-CCC8-56C5-E07A5A295DE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3046C5-187D-89D5-2754-E404085D0D8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E63578-97CC-7DB6-48C3-0173F9F8CD8A}"/>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C39FED5-6E39-6AE3-3796-E1B296282AD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6E3FCC8-D092-94E8-2D55-F59DC629B7D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896E9091-11BF-D0E3-79ED-DEF0DA74D0A1}"/>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D7097BB-EFF5-329A-3492-4CC65B5D2B47}"/>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Profit Per Hectare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average profit per hectare?</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70715C5-235E-375F-E9D9-1B34B48718A4}"/>
              </a:ext>
            </a:extLst>
          </p:cNvPr>
          <p:cNvSpPr txBox="1"/>
          <p:nvPr/>
        </p:nvSpPr>
        <p:spPr>
          <a:xfrm>
            <a:off x="680816" y="402995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CBB873E2-7C23-2B65-3D07-93648111A8EB}"/>
              </a:ext>
            </a:extLst>
          </p:cNvPr>
          <p:cNvSpPr txBox="1"/>
          <p:nvPr/>
        </p:nvSpPr>
        <p:spPr>
          <a:xfrm>
            <a:off x="675956" y="4337728"/>
            <a:ext cx="3418524"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Per Hectare by Season' bar chart indicates that Kharif has the highest average profit per hectare, followed by Rabi. In contrast, Zaid shows a negative average profit per hectare, indicating an average loss during this season. This highlights substantial variation in financial performance across seasons.</a:t>
            </a:r>
          </a:p>
        </p:txBody>
      </p:sp>
      <p:pic>
        <p:nvPicPr>
          <p:cNvPr id="16" name="Picture 15">
            <a:extLst>
              <a:ext uri="{FF2B5EF4-FFF2-40B4-BE49-F238E27FC236}">
                <a16:creationId xmlns:a16="http://schemas.microsoft.com/office/drawing/2014/main" id="{1A8107F1-F70D-BA0F-0E2E-8542E2BF20BC}"/>
              </a:ext>
            </a:extLst>
          </p:cNvPr>
          <p:cNvPicPr>
            <a:picLocks noChangeAspect="1"/>
          </p:cNvPicPr>
          <p:nvPr/>
        </p:nvPicPr>
        <p:blipFill>
          <a:blip r:embed="rId3"/>
          <a:stretch>
            <a:fillRect/>
          </a:stretch>
        </p:blipFill>
        <p:spPr>
          <a:xfrm>
            <a:off x="853436" y="1915812"/>
            <a:ext cx="2651162" cy="1374276"/>
          </a:xfrm>
          <a:prstGeom prst="rect">
            <a:avLst/>
          </a:prstGeom>
          <a:ln>
            <a:solidFill>
              <a:schemeClr val="tx1"/>
            </a:solidFill>
          </a:ln>
        </p:spPr>
      </p:pic>
      <p:pic>
        <p:nvPicPr>
          <p:cNvPr id="2" name="Picture 1">
            <a:extLst>
              <a:ext uri="{FF2B5EF4-FFF2-40B4-BE49-F238E27FC236}">
                <a16:creationId xmlns:a16="http://schemas.microsoft.com/office/drawing/2014/main" id="{8758A359-3387-7D6B-731A-8B4B87A26565}"/>
              </a:ext>
            </a:extLst>
          </p:cNvPr>
          <p:cNvPicPr>
            <a:picLocks noChangeAspect="1"/>
          </p:cNvPicPr>
          <p:nvPr/>
        </p:nvPicPr>
        <p:blipFill>
          <a:blip r:embed="rId4"/>
          <a:stretch>
            <a:fillRect/>
          </a:stretch>
        </p:blipFill>
        <p:spPr>
          <a:xfrm>
            <a:off x="4254991" y="1915812"/>
            <a:ext cx="7768395" cy="4799500"/>
          </a:xfrm>
          <a:prstGeom prst="rect">
            <a:avLst/>
          </a:prstGeom>
          <a:ln>
            <a:solidFill>
              <a:schemeClr val="tx1"/>
            </a:solidFill>
          </a:ln>
        </p:spPr>
      </p:pic>
    </p:spTree>
    <p:extLst>
      <p:ext uri="{BB962C8B-B14F-4D97-AF65-F5344CB8AC3E}">
        <p14:creationId xmlns:p14="http://schemas.microsoft.com/office/powerpoint/2010/main" val="69955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5FBE0-0D92-0894-5EB4-CA80CA168F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1E8D71-6467-C71A-26E2-FFFD34139CE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2C29D2-2848-4251-4175-5CC2739A51EF}"/>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E3538E7F-9C64-1817-AEA5-ED7CBE78865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614C02C-5829-4846-DD45-A7BFCB8104F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BD8E56A-74C6-1F04-F0A3-A7A5762739F8}"/>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F02C4C1-9B29-4137-3D98-FC470A6DEF04}"/>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Profit Margin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profit margin?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F7608D2-AA9C-6B5D-EE87-B2496865AA79}"/>
              </a:ext>
            </a:extLst>
          </p:cNvPr>
          <p:cNvSpPr txBox="1"/>
          <p:nvPr/>
        </p:nvSpPr>
        <p:spPr>
          <a:xfrm>
            <a:off x="680816" y="402995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38B6F151-D4D0-3196-D1E1-71856CE8282E}"/>
              </a:ext>
            </a:extLst>
          </p:cNvPr>
          <p:cNvSpPr txBox="1"/>
          <p:nvPr/>
        </p:nvSpPr>
        <p:spPr>
          <a:xfrm>
            <a:off x="675956" y="4337728"/>
            <a:ext cx="3885884" cy="1600438"/>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Margin by Season' bar chart indicates that all three seasons have negative average profit margins. Kharif has the highest (least negative) profit margin, followed by Rabi, while Zaid has the lowest profit margin, indicating comparatively weaker financial performance.</a:t>
            </a:r>
          </a:p>
        </p:txBody>
      </p:sp>
      <p:pic>
        <p:nvPicPr>
          <p:cNvPr id="6" name="Picture 5">
            <a:extLst>
              <a:ext uri="{FF2B5EF4-FFF2-40B4-BE49-F238E27FC236}">
                <a16:creationId xmlns:a16="http://schemas.microsoft.com/office/drawing/2014/main" id="{D9625637-8E5F-B193-1DD9-00DF5702D255}"/>
              </a:ext>
            </a:extLst>
          </p:cNvPr>
          <p:cNvPicPr>
            <a:picLocks noChangeAspect="1"/>
          </p:cNvPicPr>
          <p:nvPr/>
        </p:nvPicPr>
        <p:blipFill>
          <a:blip r:embed="rId3"/>
          <a:stretch>
            <a:fillRect/>
          </a:stretch>
        </p:blipFill>
        <p:spPr>
          <a:xfrm>
            <a:off x="740651" y="1911672"/>
            <a:ext cx="3264468" cy="1686193"/>
          </a:xfrm>
          <a:prstGeom prst="rect">
            <a:avLst/>
          </a:prstGeom>
          <a:ln>
            <a:solidFill>
              <a:schemeClr val="tx1"/>
            </a:solidFill>
          </a:ln>
        </p:spPr>
      </p:pic>
      <p:pic>
        <p:nvPicPr>
          <p:cNvPr id="9" name="Picture 8">
            <a:extLst>
              <a:ext uri="{FF2B5EF4-FFF2-40B4-BE49-F238E27FC236}">
                <a16:creationId xmlns:a16="http://schemas.microsoft.com/office/drawing/2014/main" id="{0350AA9D-65BC-0DF8-61C1-AC695F1E3464}"/>
              </a:ext>
            </a:extLst>
          </p:cNvPr>
          <p:cNvPicPr>
            <a:picLocks noChangeAspect="1"/>
          </p:cNvPicPr>
          <p:nvPr/>
        </p:nvPicPr>
        <p:blipFill>
          <a:blip r:embed="rId4"/>
          <a:stretch>
            <a:fillRect/>
          </a:stretch>
        </p:blipFill>
        <p:spPr>
          <a:xfrm>
            <a:off x="4756399" y="1836839"/>
            <a:ext cx="7228014" cy="4635081"/>
          </a:xfrm>
          <a:prstGeom prst="rect">
            <a:avLst/>
          </a:prstGeom>
          <a:ln>
            <a:solidFill>
              <a:schemeClr val="tx1"/>
            </a:solidFill>
          </a:ln>
        </p:spPr>
      </p:pic>
    </p:spTree>
    <p:extLst>
      <p:ext uri="{BB962C8B-B14F-4D97-AF65-F5344CB8AC3E}">
        <p14:creationId xmlns:p14="http://schemas.microsoft.com/office/powerpoint/2010/main" val="315731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1149-B963-81F3-C617-A32EFB0C4D0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452731-BB0C-36DB-D41A-31C7E501C15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C458D9-D434-592A-C351-FF196FAC6FFC}"/>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894B1BBE-FE97-5DA1-3647-1EA1641E98C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808C9B8-0FB7-45C6-56E3-F2E30724B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60A41264-E2AC-6AB4-B18B-B069C81F2719}"/>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4C9A446-0B3A-A28D-D230-698385ECFA78}"/>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ROI by Season</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season has the highest ROI?</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DB79016-DA8B-8961-85B1-2BFCE2FE3DB5}"/>
              </a:ext>
            </a:extLst>
          </p:cNvPr>
          <p:cNvSpPr txBox="1"/>
          <p:nvPr/>
        </p:nvSpPr>
        <p:spPr>
          <a:xfrm>
            <a:off x="680816" y="4029951"/>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DCA4022F-9DC9-78FA-CE56-CE00F8D86A53}"/>
              </a:ext>
            </a:extLst>
          </p:cNvPr>
          <p:cNvSpPr txBox="1"/>
          <p:nvPr/>
        </p:nvSpPr>
        <p:spPr>
          <a:xfrm>
            <a:off x="675956" y="4337728"/>
            <a:ext cx="3520124" cy="1815882"/>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ROI by Season' bar chart indicates that Kharif has the highest average ROI at approximately 35%, followed by Rabi at around 18%. Zaid has a negative average ROI of approximately -2%, indicating comparatively weaker investment returns during this season.</a:t>
            </a:r>
            <a:endParaRPr lang="en-IN" sz="1400" dirty="0">
              <a:solidFill>
                <a:srgbClr val="FF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E92F05D-58E9-7B34-8CF1-9664BB2E23F4}"/>
              </a:ext>
            </a:extLst>
          </p:cNvPr>
          <p:cNvPicPr>
            <a:picLocks noChangeAspect="1"/>
          </p:cNvPicPr>
          <p:nvPr/>
        </p:nvPicPr>
        <p:blipFill>
          <a:blip r:embed="rId3"/>
          <a:stretch>
            <a:fillRect/>
          </a:stretch>
        </p:blipFill>
        <p:spPr>
          <a:xfrm>
            <a:off x="848409" y="1855092"/>
            <a:ext cx="1836482" cy="1502576"/>
          </a:xfrm>
          <a:prstGeom prst="rect">
            <a:avLst/>
          </a:prstGeom>
          <a:ln>
            <a:solidFill>
              <a:schemeClr val="tx1"/>
            </a:solidFill>
          </a:ln>
        </p:spPr>
      </p:pic>
      <p:pic>
        <p:nvPicPr>
          <p:cNvPr id="14" name="Picture 13">
            <a:extLst>
              <a:ext uri="{FF2B5EF4-FFF2-40B4-BE49-F238E27FC236}">
                <a16:creationId xmlns:a16="http://schemas.microsoft.com/office/drawing/2014/main" id="{C21EB0A0-C033-643D-7847-514B87CED2A7}"/>
              </a:ext>
            </a:extLst>
          </p:cNvPr>
          <p:cNvPicPr>
            <a:picLocks noChangeAspect="1"/>
          </p:cNvPicPr>
          <p:nvPr/>
        </p:nvPicPr>
        <p:blipFill>
          <a:blip r:embed="rId4"/>
          <a:stretch>
            <a:fillRect/>
          </a:stretch>
        </p:blipFill>
        <p:spPr>
          <a:xfrm>
            <a:off x="4561840" y="1813980"/>
            <a:ext cx="7473973" cy="4861193"/>
          </a:xfrm>
          <a:prstGeom prst="rect">
            <a:avLst/>
          </a:prstGeom>
          <a:ln>
            <a:solidFill>
              <a:schemeClr val="tx1"/>
            </a:solidFill>
          </a:ln>
        </p:spPr>
      </p:pic>
    </p:spTree>
    <p:extLst>
      <p:ext uri="{BB962C8B-B14F-4D97-AF65-F5344CB8AC3E}">
        <p14:creationId xmlns:p14="http://schemas.microsoft.com/office/powerpoint/2010/main" val="312732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9643A-E678-A25A-1C3E-E82C46717DC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CDA8272-D154-7C77-BEA1-8F04D61850D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E4C1164-3BF0-F320-6EBA-0188C673DFC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DDE7ECD5-6A1D-2CC8-3245-E6A11042176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260607C-C4FD-42D6-0D7D-97F2C753E25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15EBACDF-414C-17C7-79A7-31F17DEC3540}"/>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7F9BEBC-9534-CB20-B7C7-6366C884BF96}"/>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Profit Per Hectare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crops generate the highest profit per hectare?</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C446904-45E7-F2D3-11E7-157AD331AC6A}"/>
              </a:ext>
            </a:extLst>
          </p:cNvPr>
          <p:cNvSpPr txBox="1"/>
          <p:nvPr/>
        </p:nvSpPr>
        <p:spPr>
          <a:xfrm>
            <a:off x="680816" y="423030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54017587-B5F6-13DD-65AB-D6EF64C9CF6D}"/>
              </a:ext>
            </a:extLst>
          </p:cNvPr>
          <p:cNvSpPr txBox="1"/>
          <p:nvPr/>
        </p:nvSpPr>
        <p:spPr>
          <a:xfrm>
            <a:off x="675956" y="4538083"/>
            <a:ext cx="3669738"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Per Hectare by Crop' bar chart indicates that Sugarcane has the highest average profit per hectare, followed by Chilli. Cotton and Groundnut show positive but considerably lower average profits, while Pulses, Maize, Rice, and Wheat have negative average profits per hectare, indicating comparatively weaker financial performance for these crops.</a:t>
            </a:r>
            <a:endParaRPr lang="en-IN" sz="1400" dirty="0">
              <a:solidFill>
                <a:srgbClr val="FF000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68E7CCE-F899-8EB9-3AB4-47F522DB04C3}"/>
              </a:ext>
            </a:extLst>
          </p:cNvPr>
          <p:cNvPicPr>
            <a:picLocks noChangeAspect="1"/>
          </p:cNvPicPr>
          <p:nvPr/>
        </p:nvPicPr>
        <p:blipFill>
          <a:blip r:embed="rId3"/>
          <a:stretch>
            <a:fillRect/>
          </a:stretch>
        </p:blipFill>
        <p:spPr>
          <a:xfrm>
            <a:off x="784365" y="1855091"/>
            <a:ext cx="2197389" cy="2246769"/>
          </a:xfrm>
          <a:prstGeom prst="rect">
            <a:avLst/>
          </a:prstGeom>
          <a:ln>
            <a:solidFill>
              <a:schemeClr val="tx1"/>
            </a:solidFill>
          </a:ln>
        </p:spPr>
      </p:pic>
      <p:pic>
        <p:nvPicPr>
          <p:cNvPr id="2" name="Picture 1">
            <a:extLst>
              <a:ext uri="{FF2B5EF4-FFF2-40B4-BE49-F238E27FC236}">
                <a16:creationId xmlns:a16="http://schemas.microsoft.com/office/drawing/2014/main" id="{5FDB342C-2C18-C0F2-2BF0-E0A553BBDED7}"/>
              </a:ext>
            </a:extLst>
          </p:cNvPr>
          <p:cNvPicPr>
            <a:picLocks noChangeAspect="1"/>
          </p:cNvPicPr>
          <p:nvPr/>
        </p:nvPicPr>
        <p:blipFill>
          <a:blip r:embed="rId4"/>
          <a:stretch>
            <a:fillRect/>
          </a:stretch>
        </p:blipFill>
        <p:spPr>
          <a:xfrm>
            <a:off x="4448755" y="1855091"/>
            <a:ext cx="7534727" cy="4881886"/>
          </a:xfrm>
          <a:prstGeom prst="rect">
            <a:avLst/>
          </a:prstGeom>
          <a:ln>
            <a:solidFill>
              <a:schemeClr val="tx1"/>
            </a:solidFill>
          </a:ln>
        </p:spPr>
      </p:pic>
    </p:spTree>
    <p:extLst>
      <p:ext uri="{BB962C8B-B14F-4D97-AF65-F5344CB8AC3E}">
        <p14:creationId xmlns:p14="http://schemas.microsoft.com/office/powerpoint/2010/main" val="220274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72917-0E8C-C0B4-D6FD-E7A8066892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4D1D93A-D7AA-D80D-7A4D-09D958FFDA2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D5DACA2-46E1-0C48-7F24-2177BD2AF83D}"/>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2FD5B5DC-356C-27A3-155A-9C126E5DD89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1B4791B-11DA-4BFA-C05C-6C8991F3127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502187E-CBC4-5C26-5B33-4C7435897D0E}"/>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C46A668-AB27-1DB8-C127-0F59A670F39C}"/>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Profit Margin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has the highest profit margin?</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19AD9BB-7FFB-6E81-AB66-B8FA509CDD89}"/>
              </a:ext>
            </a:extLst>
          </p:cNvPr>
          <p:cNvSpPr txBox="1"/>
          <p:nvPr/>
        </p:nvSpPr>
        <p:spPr>
          <a:xfrm>
            <a:off x="680816" y="423030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E6153A8E-8629-AC3A-0829-77DD9DED5483}"/>
              </a:ext>
            </a:extLst>
          </p:cNvPr>
          <p:cNvSpPr txBox="1"/>
          <p:nvPr/>
        </p:nvSpPr>
        <p:spPr>
          <a:xfrm>
            <a:off x="675956" y="4538083"/>
            <a:ext cx="3343561"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Margin by Crop' bar chart indicates that Chilli has the highest average profit margin, followed by Sugarcane. Cotton, Groundnut, Pulses, Maize, Wheat, and Rice have negative average profit margins, with Rice showing the lowest margin, indicating comparatively weaker financial performance.</a:t>
            </a:r>
            <a:endParaRPr lang="en-IN" sz="1400" dirty="0">
              <a:solidFill>
                <a:srgbClr val="FF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0F44424B-2A2C-C6EF-1939-AFB9E093DB00}"/>
              </a:ext>
            </a:extLst>
          </p:cNvPr>
          <p:cNvPicPr>
            <a:picLocks noChangeAspect="1"/>
          </p:cNvPicPr>
          <p:nvPr/>
        </p:nvPicPr>
        <p:blipFill>
          <a:blip r:embed="rId3"/>
          <a:stretch>
            <a:fillRect/>
          </a:stretch>
        </p:blipFill>
        <p:spPr>
          <a:xfrm>
            <a:off x="860572" y="1833855"/>
            <a:ext cx="1958510" cy="2149026"/>
          </a:xfrm>
          <a:prstGeom prst="rect">
            <a:avLst/>
          </a:prstGeom>
          <a:ln>
            <a:solidFill>
              <a:schemeClr val="tx1"/>
            </a:solidFill>
          </a:ln>
        </p:spPr>
      </p:pic>
      <p:pic>
        <p:nvPicPr>
          <p:cNvPr id="14" name="Picture 13">
            <a:extLst>
              <a:ext uri="{FF2B5EF4-FFF2-40B4-BE49-F238E27FC236}">
                <a16:creationId xmlns:a16="http://schemas.microsoft.com/office/drawing/2014/main" id="{D230E96F-5530-48EB-C8CC-3DD1E15ABDBF}"/>
              </a:ext>
            </a:extLst>
          </p:cNvPr>
          <p:cNvPicPr>
            <a:picLocks noChangeAspect="1"/>
          </p:cNvPicPr>
          <p:nvPr/>
        </p:nvPicPr>
        <p:blipFill>
          <a:blip r:embed="rId4"/>
          <a:stretch>
            <a:fillRect/>
          </a:stretch>
        </p:blipFill>
        <p:spPr>
          <a:xfrm>
            <a:off x="4345694" y="1783074"/>
            <a:ext cx="7637084" cy="4846270"/>
          </a:xfrm>
          <a:prstGeom prst="rect">
            <a:avLst/>
          </a:prstGeom>
          <a:ln>
            <a:solidFill>
              <a:schemeClr val="tx1"/>
            </a:solidFill>
          </a:ln>
        </p:spPr>
      </p:pic>
    </p:spTree>
    <p:extLst>
      <p:ext uri="{BB962C8B-B14F-4D97-AF65-F5344CB8AC3E}">
        <p14:creationId xmlns:p14="http://schemas.microsoft.com/office/powerpoint/2010/main" val="285296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A6F8E-AE8F-2C1E-2DB7-9BB7486AA4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E1E33B-4D37-3FD7-A574-8019881DFD5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2A109E9-4B94-B528-2B36-2BDE52135DB2}"/>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8E8588A0-2A40-0F41-9118-D6833A7AAE4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EC51E1C-04ED-E808-B30F-9116E616312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2AF50B34-06B3-BB27-3868-1B1C96455F34}"/>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AA5E4B2-9BC2-9335-931D-E5A41502BB97}"/>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ROI by Crop</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crop has the highest ROI?</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CD63A7B-7310-0631-CFBB-89B40AB0788B}"/>
              </a:ext>
            </a:extLst>
          </p:cNvPr>
          <p:cNvSpPr txBox="1"/>
          <p:nvPr/>
        </p:nvSpPr>
        <p:spPr>
          <a:xfrm>
            <a:off x="680816" y="423030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CFD47454-9EA4-71DF-AD0E-B5DB8920AD48}"/>
              </a:ext>
            </a:extLst>
          </p:cNvPr>
          <p:cNvSpPr txBox="1"/>
          <p:nvPr/>
        </p:nvSpPr>
        <p:spPr>
          <a:xfrm>
            <a:off x="675956" y="4538083"/>
            <a:ext cx="3885884"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ROI by Crop' bar chart indicates that Sugarcane has the highest average ROI at approximately 150%, followed by Chilli at around 143%. Cotton and Groundnut show positive but lower returns, while Pulses has a near-zero ROI. Maize, Rice, and Wheat have negative average ROI, with Wheat showing the lowest return, indicating comparatively weaker investment performance.</a:t>
            </a:r>
          </a:p>
        </p:txBody>
      </p:sp>
      <p:pic>
        <p:nvPicPr>
          <p:cNvPr id="6" name="Picture 5">
            <a:extLst>
              <a:ext uri="{FF2B5EF4-FFF2-40B4-BE49-F238E27FC236}">
                <a16:creationId xmlns:a16="http://schemas.microsoft.com/office/drawing/2014/main" id="{84E762B6-0C9A-4DD7-BF0B-91D846F76266}"/>
              </a:ext>
            </a:extLst>
          </p:cNvPr>
          <p:cNvPicPr>
            <a:picLocks noChangeAspect="1"/>
          </p:cNvPicPr>
          <p:nvPr/>
        </p:nvPicPr>
        <p:blipFill>
          <a:blip r:embed="rId3"/>
          <a:stretch>
            <a:fillRect/>
          </a:stretch>
        </p:blipFill>
        <p:spPr>
          <a:xfrm>
            <a:off x="811403" y="1797655"/>
            <a:ext cx="2277237" cy="2312759"/>
          </a:xfrm>
          <a:prstGeom prst="rect">
            <a:avLst/>
          </a:prstGeom>
          <a:ln>
            <a:solidFill>
              <a:schemeClr val="tx1"/>
            </a:solidFill>
          </a:ln>
        </p:spPr>
      </p:pic>
      <p:pic>
        <p:nvPicPr>
          <p:cNvPr id="9" name="Picture 8">
            <a:extLst>
              <a:ext uri="{FF2B5EF4-FFF2-40B4-BE49-F238E27FC236}">
                <a16:creationId xmlns:a16="http://schemas.microsoft.com/office/drawing/2014/main" id="{EC261C33-38C4-8474-C9AB-F1217BEA9D85}"/>
              </a:ext>
            </a:extLst>
          </p:cNvPr>
          <p:cNvPicPr>
            <a:picLocks noChangeAspect="1"/>
          </p:cNvPicPr>
          <p:nvPr/>
        </p:nvPicPr>
        <p:blipFill>
          <a:blip r:embed="rId4"/>
          <a:stretch>
            <a:fillRect/>
          </a:stretch>
        </p:blipFill>
        <p:spPr>
          <a:xfrm>
            <a:off x="4805679" y="1781308"/>
            <a:ext cx="7149131" cy="4584496"/>
          </a:xfrm>
          <a:prstGeom prst="rect">
            <a:avLst/>
          </a:prstGeom>
          <a:ln>
            <a:solidFill>
              <a:schemeClr val="tx1"/>
            </a:solidFill>
          </a:ln>
        </p:spPr>
      </p:pic>
    </p:spTree>
    <p:extLst>
      <p:ext uri="{BB962C8B-B14F-4D97-AF65-F5344CB8AC3E}">
        <p14:creationId xmlns:p14="http://schemas.microsoft.com/office/powerpoint/2010/main" val="4248791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59C31-4FFA-34F0-1C56-AAB3403A62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B64FBF0-E31D-7867-51C4-406495011FF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130A6A1-1EBD-BA8A-0315-21CD4B631C9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F471B5B1-F5E0-9AED-58DE-ACDD77B3DC4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EA6246D-DDCA-218B-D99A-0E4BCA921E3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44E75805-7C82-2078-96D5-95564A2333B3}"/>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1BC3280-E024-01D4-D703-9F5F0F64D1A9}"/>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Market Price VS Profit</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Is market price associated with profit?</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78518569-9520-6D63-4432-DB70173977A8}"/>
              </a:ext>
            </a:extLst>
          </p:cNvPr>
          <p:cNvSpPr txBox="1"/>
          <p:nvPr/>
        </p:nvSpPr>
        <p:spPr>
          <a:xfrm>
            <a:off x="782451" y="2920929"/>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2FEB7F54-601C-E491-C976-18D106CC4CFB}"/>
              </a:ext>
            </a:extLst>
          </p:cNvPr>
          <p:cNvSpPr txBox="1"/>
          <p:nvPr/>
        </p:nvSpPr>
        <p:spPr>
          <a:xfrm>
            <a:off x="777590" y="3228706"/>
            <a:ext cx="7868569" cy="738664"/>
          </a:xfrm>
          <a:prstGeom prst="rect">
            <a:avLst/>
          </a:prstGeom>
          <a:noFill/>
        </p:spPr>
        <p:txBody>
          <a:bodyPr wrap="square" rtlCol="0">
            <a:spAutoFit/>
          </a:bodyPr>
          <a:lstStyle/>
          <a:p>
            <a:r>
              <a:rPr lang="en-IN" sz="1400" b="1" dirty="0">
                <a:solidFill>
                  <a:srgbClr val="FF0000"/>
                </a:solidFill>
                <a:latin typeface="Arial" panose="020B0604020202020204" pitchFamily="34" charset="0"/>
                <a:cs typeface="Arial" panose="020B0604020202020204" pitchFamily="34" charset="0"/>
              </a:rPr>
              <a:t>The correlation coefficient between Market Price and Profit is 0.23, indicating a weak positive association. This suggests that higher market prices tend to be associated with higher profits, but the relationship is relatively weak in the given dataset.</a:t>
            </a:r>
            <a:endParaRPr lang="en-IN" sz="1400" dirty="0">
              <a:solidFill>
                <a:srgbClr val="FF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A7DF673-AC7E-64E9-93B8-3BC377E2A4CB}"/>
              </a:ext>
            </a:extLst>
          </p:cNvPr>
          <p:cNvPicPr>
            <a:picLocks noChangeAspect="1"/>
          </p:cNvPicPr>
          <p:nvPr/>
        </p:nvPicPr>
        <p:blipFill>
          <a:blip r:embed="rId3"/>
          <a:stretch>
            <a:fillRect/>
          </a:stretch>
        </p:blipFill>
        <p:spPr>
          <a:xfrm>
            <a:off x="777591" y="1935497"/>
            <a:ext cx="7319085" cy="564406"/>
          </a:xfrm>
          <a:prstGeom prst="rect">
            <a:avLst/>
          </a:prstGeom>
          <a:ln>
            <a:solidFill>
              <a:schemeClr val="tx1"/>
            </a:solidFill>
          </a:ln>
        </p:spPr>
      </p:pic>
    </p:spTree>
    <p:extLst>
      <p:ext uri="{BB962C8B-B14F-4D97-AF65-F5344CB8AC3E}">
        <p14:creationId xmlns:p14="http://schemas.microsoft.com/office/powerpoint/2010/main" val="133220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83E4-3D66-5A11-E657-939F865910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1D6D13F-7413-2103-FB2F-F8789985D3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A6DA0B1-4602-71C2-FA85-3E74E4CFBAC2}"/>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526D1A76-1183-0BB3-BA16-6B70B41AD9F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8C87527-073A-BCB6-1711-447716C990A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F5FA1258-5E12-191C-21D7-AAF6566C1832}"/>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(FINANCIAL PERFORMANCE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76714B5-13B0-FF38-2662-2FF176077079}"/>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Average Profit Per Hectare by States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states have the highest average profit per hectare?</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A4B6492-8487-5687-C27D-DADC03A900AF}"/>
              </a:ext>
            </a:extLst>
          </p:cNvPr>
          <p:cNvSpPr txBox="1"/>
          <p:nvPr/>
        </p:nvSpPr>
        <p:spPr>
          <a:xfrm>
            <a:off x="680816" y="423030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92DE4E46-BCC7-CAE2-FBA1-C1D6886C18FE}"/>
              </a:ext>
            </a:extLst>
          </p:cNvPr>
          <p:cNvSpPr txBox="1"/>
          <p:nvPr/>
        </p:nvSpPr>
        <p:spPr>
          <a:xfrm>
            <a:off x="675956" y="4538083"/>
            <a:ext cx="3521244" cy="2246769"/>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'Average Profit Per Hectare by State' bar chart indicates that Punjab has the highest average profit per hectare, followed by Telangana, Maharashtra, and Karnataka. Gujarat and Tamil Nadu show moderate average profits, while Madhya Pradesh and Andhra Pradesh have the lowest, indicating some variation in financial performance across states.</a:t>
            </a:r>
            <a:endParaRPr lang="en-IN" sz="1400" dirty="0">
              <a:solidFill>
                <a:srgbClr val="FF0000"/>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EBF84B9D-8706-9470-11AE-05E92626787E}"/>
              </a:ext>
            </a:extLst>
          </p:cNvPr>
          <p:cNvPicPr>
            <a:picLocks noChangeAspect="1"/>
          </p:cNvPicPr>
          <p:nvPr/>
        </p:nvPicPr>
        <p:blipFill>
          <a:blip r:embed="rId3"/>
          <a:stretch>
            <a:fillRect/>
          </a:stretch>
        </p:blipFill>
        <p:spPr>
          <a:xfrm>
            <a:off x="817909" y="1826334"/>
            <a:ext cx="2839691" cy="2284080"/>
          </a:xfrm>
          <a:prstGeom prst="rect">
            <a:avLst/>
          </a:prstGeom>
          <a:ln>
            <a:solidFill>
              <a:schemeClr val="tx1"/>
            </a:solidFill>
          </a:ln>
        </p:spPr>
      </p:pic>
      <p:pic>
        <p:nvPicPr>
          <p:cNvPr id="2" name="Picture 1">
            <a:extLst>
              <a:ext uri="{FF2B5EF4-FFF2-40B4-BE49-F238E27FC236}">
                <a16:creationId xmlns:a16="http://schemas.microsoft.com/office/drawing/2014/main" id="{A895BCD5-A1CC-B3F5-18FC-85B47395F819}"/>
              </a:ext>
            </a:extLst>
          </p:cNvPr>
          <p:cNvPicPr>
            <a:picLocks noChangeAspect="1"/>
          </p:cNvPicPr>
          <p:nvPr/>
        </p:nvPicPr>
        <p:blipFill>
          <a:blip r:embed="rId4"/>
          <a:stretch>
            <a:fillRect/>
          </a:stretch>
        </p:blipFill>
        <p:spPr>
          <a:xfrm>
            <a:off x="4345694" y="1781307"/>
            <a:ext cx="7677693" cy="4891915"/>
          </a:xfrm>
          <a:prstGeom prst="rect">
            <a:avLst/>
          </a:prstGeom>
          <a:ln>
            <a:solidFill>
              <a:schemeClr val="tx1"/>
            </a:solidFill>
          </a:ln>
        </p:spPr>
      </p:pic>
    </p:spTree>
    <p:extLst>
      <p:ext uri="{BB962C8B-B14F-4D97-AF65-F5344CB8AC3E}">
        <p14:creationId xmlns:p14="http://schemas.microsoft.com/office/powerpoint/2010/main" val="633552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7790-D58A-AE95-2B15-B5505507CEA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E15DD37-02AA-62D7-8735-DDD9AEBBDDF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B9EAEFE-072E-C412-BEEF-8E75D97F32B1}"/>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AC225FE0-76A6-E4D4-31C3-DA6AFDCBA60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F0AE1CE-867C-0B7B-C15D-BF77E38E224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CB3EF12F-DACB-C5DD-1CC5-D0C922A74ACA}"/>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(OVERALL CORRELATION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0197F75-D294-129E-A2C7-B12FC60EC558}"/>
              </a:ext>
            </a:extLst>
          </p:cNvPr>
          <p:cNvSpPr txBox="1"/>
          <p:nvPr/>
        </p:nvSpPr>
        <p:spPr>
          <a:xfrm>
            <a:off x="675956" y="1196532"/>
            <a:ext cx="9839644" cy="830997"/>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Overall Strong Correlation Analysis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What are the strongest relationships among the original numerical variables in the agricultural dataset?</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F1C6C08-3859-4ED5-6A0B-31FAA539B464}"/>
              </a:ext>
            </a:extLst>
          </p:cNvPr>
          <p:cNvSpPr txBox="1"/>
          <p:nvPr/>
        </p:nvSpPr>
        <p:spPr>
          <a:xfrm>
            <a:off x="680816" y="227592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DFDACD7A-BBD2-6416-C689-673CE328DD1D}"/>
              </a:ext>
            </a:extLst>
          </p:cNvPr>
          <p:cNvSpPr txBox="1"/>
          <p:nvPr/>
        </p:nvSpPr>
        <p:spPr>
          <a:xfrm>
            <a:off x="675956" y="2583703"/>
            <a:ext cx="4180524" cy="3108543"/>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strong correlation analysis shows that Farm Area and Total Cost have the strongest positive association (0.96), followed by Yield and Water Efficiency (0.92). Revenue is strongly associated with Profit (0.89), while Yield also shows strong associations with Production (0.89) and Water Efficiency (0.92). Environmental variables such as Rainfall and Humidity show moderate positive associations with Disease/Pest Risk (0.62 and 0.55 respectively). Overall, the strongest relationships are observed among farm size, production, water efficiency, and financial variables.</a:t>
            </a:r>
          </a:p>
        </p:txBody>
      </p:sp>
      <p:pic>
        <p:nvPicPr>
          <p:cNvPr id="6" name="Picture 5">
            <a:extLst>
              <a:ext uri="{FF2B5EF4-FFF2-40B4-BE49-F238E27FC236}">
                <a16:creationId xmlns:a16="http://schemas.microsoft.com/office/drawing/2014/main" id="{8F3B415F-3DCA-5A6F-2A60-ECCDB3E62A6F}"/>
              </a:ext>
            </a:extLst>
          </p:cNvPr>
          <p:cNvPicPr>
            <a:picLocks noChangeAspect="1"/>
          </p:cNvPicPr>
          <p:nvPr/>
        </p:nvPicPr>
        <p:blipFill>
          <a:blip r:embed="rId3"/>
          <a:stretch>
            <a:fillRect/>
          </a:stretch>
        </p:blipFill>
        <p:spPr>
          <a:xfrm>
            <a:off x="5413308" y="1746400"/>
            <a:ext cx="6228302" cy="4967812"/>
          </a:xfrm>
          <a:prstGeom prst="rect">
            <a:avLst/>
          </a:prstGeom>
          <a:ln>
            <a:solidFill>
              <a:schemeClr val="tx1"/>
            </a:solidFill>
          </a:ln>
        </p:spPr>
      </p:pic>
    </p:spTree>
    <p:extLst>
      <p:ext uri="{BB962C8B-B14F-4D97-AF65-F5344CB8AC3E}">
        <p14:creationId xmlns:p14="http://schemas.microsoft.com/office/powerpoint/2010/main" val="67756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673E7-23CC-29A2-325A-77F444F020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B3ABEC-00AF-0401-7D2A-02CDC905D86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5656876-6777-71EB-A11F-35343A200CA8}"/>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50C4EA14-9D7E-340B-789B-B77BF90E9B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D1C4820-33D9-92EA-B6E8-32C883D998C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D58AFEF2-9F82-F67A-C1D3-7F08E303D72C}"/>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(OVERALL CORRELATION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3B7D4A3-3779-0E93-8438-2725E26ECA45}"/>
              </a:ext>
            </a:extLst>
          </p:cNvPr>
          <p:cNvSpPr txBox="1"/>
          <p:nvPr/>
        </p:nvSpPr>
        <p:spPr>
          <a:xfrm>
            <a:off x="675956" y="1196532"/>
            <a:ext cx="4508887" cy="1077218"/>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Overall Strong Correlation Analysis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What are the strongest relationships among the original numerical variables in the agricultural dataset?</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FAC1E0C-ADFB-1216-3242-C0FB0F9114B7}"/>
              </a:ext>
            </a:extLst>
          </p:cNvPr>
          <p:cNvSpPr txBox="1"/>
          <p:nvPr/>
        </p:nvSpPr>
        <p:spPr>
          <a:xfrm>
            <a:off x="680816" y="2482245"/>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0E912F96-9EF4-434A-2A9E-55BA1B2F0ACE}"/>
              </a:ext>
            </a:extLst>
          </p:cNvPr>
          <p:cNvSpPr txBox="1"/>
          <p:nvPr/>
        </p:nvSpPr>
        <p:spPr>
          <a:xfrm>
            <a:off x="675956" y="2790022"/>
            <a:ext cx="4332924" cy="1384995"/>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heatmap visually confirms the strong positive relationships identified in the correlation analysis, with the strongest associations observed between Farm Area–Total Cost (0.96), Yield–Water Efficiency (0.92), Revenue–Profit (0.89), and Yield–Production (0.89).</a:t>
            </a:r>
          </a:p>
        </p:txBody>
      </p:sp>
      <p:pic>
        <p:nvPicPr>
          <p:cNvPr id="2" name="Picture 1">
            <a:extLst>
              <a:ext uri="{FF2B5EF4-FFF2-40B4-BE49-F238E27FC236}">
                <a16:creationId xmlns:a16="http://schemas.microsoft.com/office/drawing/2014/main" id="{2A558CC7-0461-7BB2-34B9-E8190FFEFD04}"/>
              </a:ext>
            </a:extLst>
          </p:cNvPr>
          <p:cNvPicPr>
            <a:picLocks noChangeAspect="1"/>
          </p:cNvPicPr>
          <p:nvPr/>
        </p:nvPicPr>
        <p:blipFill>
          <a:blip r:embed="rId3"/>
          <a:stretch>
            <a:fillRect/>
          </a:stretch>
        </p:blipFill>
        <p:spPr>
          <a:xfrm>
            <a:off x="5104912" y="975787"/>
            <a:ext cx="6927683" cy="5689173"/>
          </a:xfrm>
          <a:prstGeom prst="rect">
            <a:avLst/>
          </a:prstGeom>
          <a:ln>
            <a:solidFill>
              <a:schemeClr val="tx1"/>
            </a:solidFill>
          </a:ln>
        </p:spPr>
      </p:pic>
    </p:spTree>
    <p:extLst>
      <p:ext uri="{BB962C8B-B14F-4D97-AF65-F5344CB8AC3E}">
        <p14:creationId xmlns:p14="http://schemas.microsoft.com/office/powerpoint/2010/main" val="3843293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ED11-2DDC-AF88-626D-7655685958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DF88BD-DD78-A722-4F96-5F94D34D685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4A7E1D5-E889-29A4-CBEB-97B9627D4566}"/>
              </a:ext>
            </a:extLst>
          </p:cNvPr>
          <p:cNvSpPr>
            <a:spLocks noGrp="1"/>
          </p:cNvSpPr>
          <p:nvPr>
            <p:ph type="title"/>
          </p:nvPr>
        </p:nvSpPr>
        <p:spPr>
          <a:xfrm>
            <a:off x="675957" y="370589"/>
            <a:ext cx="2981643" cy="830997"/>
          </a:xfrm>
        </p:spPr>
        <p:txBody>
          <a:bodyPr>
            <a:normAutofit fontScale="90000"/>
          </a:bodyPr>
          <a:lstStyle/>
          <a:p>
            <a:r>
              <a:rPr lang="en-GB" dirty="0">
                <a:latin typeface="Arial" panose="020B0604020202020204" pitchFamily="34" charset="0"/>
                <a:cs typeface="Arial" panose="020B0604020202020204" pitchFamily="34" charset="0"/>
              </a:rPr>
              <a:t>RESULTS </a:t>
            </a:r>
            <a:endParaRPr lang="en-IN" dirty="0">
              <a:latin typeface="Arial" panose="020B0604020202020204" pitchFamily="34" charset="0"/>
              <a:cs typeface="Arial" panose="020B0604020202020204" pitchFamily="34" charset="0"/>
            </a:endParaRPr>
          </a:p>
        </p:txBody>
      </p:sp>
      <p:sp>
        <p:nvSpPr>
          <p:cNvPr id="7" name="Text Placeholder 30">
            <a:extLst>
              <a:ext uri="{FF2B5EF4-FFF2-40B4-BE49-F238E27FC236}">
                <a16:creationId xmlns:a16="http://schemas.microsoft.com/office/drawing/2014/main" id="{94BDD98D-2C02-1F85-2F54-74B44019C8A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A295CCE-0583-1296-480E-9F7FCCDB1BD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itle 3">
            <a:extLst>
              <a:ext uri="{FF2B5EF4-FFF2-40B4-BE49-F238E27FC236}">
                <a16:creationId xmlns:a16="http://schemas.microsoft.com/office/drawing/2014/main" id="{0073D694-CA32-F09C-EAE3-85E32826B353}"/>
              </a:ext>
            </a:extLst>
          </p:cNvPr>
          <p:cNvSpPr txBox="1">
            <a:spLocks/>
          </p:cNvSpPr>
          <p:nvPr/>
        </p:nvSpPr>
        <p:spPr>
          <a:xfrm>
            <a:off x="3753632" y="584136"/>
            <a:ext cx="4684736" cy="403901"/>
          </a:xfrm>
          <a:prstGeom prst="rect">
            <a:avLst/>
          </a:prstGeom>
        </p:spPr>
        <p:txBody>
          <a:bodyPr vert="horz" lIns="91440" tIns="45720" rIns="91440" bIns="45720" rtlCol="0" anchor="t">
            <a:no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dirty="0">
                <a:latin typeface="Arial" panose="020B0604020202020204" pitchFamily="34" charset="0"/>
                <a:cs typeface="Arial" panose="020B0604020202020204" pitchFamily="34" charset="0"/>
              </a:rPr>
              <a:t>(OVERALL CORRELATION ANALYSIS)</a:t>
            </a:r>
            <a:endParaRPr lang="en-IN" sz="18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A6EA556-42F5-F679-566D-74EC24BC2B16}"/>
              </a:ext>
            </a:extLst>
          </p:cNvPr>
          <p:cNvSpPr txBox="1"/>
          <p:nvPr/>
        </p:nvSpPr>
        <p:spPr>
          <a:xfrm>
            <a:off x="675956" y="1196532"/>
            <a:ext cx="9839644" cy="584775"/>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Yield Correlation Analysis</a:t>
            </a:r>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TO FIND: Which original numerical variables have the strongest association with agricultural yield?</a:t>
            </a:r>
            <a:endParaRPr lang="en-IN"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4275A20-FF77-78FD-438C-9AF4F4F6E353}"/>
              </a:ext>
            </a:extLst>
          </p:cNvPr>
          <p:cNvSpPr txBox="1"/>
          <p:nvPr/>
        </p:nvSpPr>
        <p:spPr>
          <a:xfrm>
            <a:off x="863696" y="3566246"/>
            <a:ext cx="2004075" cy="307777"/>
          </a:xfrm>
          <a:prstGeom prst="rect">
            <a:avLst/>
          </a:prstGeom>
          <a:noFill/>
        </p:spPr>
        <p:txBody>
          <a:bodyPr wrap="none" rtlCol="0">
            <a:spAutoFit/>
          </a:bodyPr>
          <a:lstStyle/>
          <a:p>
            <a:r>
              <a:rPr lang="en-IN" sz="1400" b="1" dirty="0">
                <a:solidFill>
                  <a:srgbClr val="FF0000"/>
                </a:solidFill>
                <a:latin typeface="Arial" panose="020B0604020202020204" pitchFamily="34" charset="0"/>
                <a:cs typeface="Arial" panose="020B0604020202020204" pitchFamily="34" charset="0"/>
              </a:rPr>
              <a:t>Analytical Statement:</a:t>
            </a:r>
            <a:endParaRPr lang="en-IN" sz="1400" dirty="0">
              <a:solidFill>
                <a:srgbClr val="FF0000"/>
              </a:solidFill>
            </a:endParaRPr>
          </a:p>
        </p:txBody>
      </p:sp>
      <p:sp>
        <p:nvSpPr>
          <p:cNvPr id="12" name="TextBox 11">
            <a:extLst>
              <a:ext uri="{FF2B5EF4-FFF2-40B4-BE49-F238E27FC236}">
                <a16:creationId xmlns:a16="http://schemas.microsoft.com/office/drawing/2014/main" id="{C220BC10-77DB-21FA-0630-8F390C6FE18E}"/>
              </a:ext>
            </a:extLst>
          </p:cNvPr>
          <p:cNvSpPr txBox="1"/>
          <p:nvPr/>
        </p:nvSpPr>
        <p:spPr>
          <a:xfrm>
            <a:off x="858836" y="3874023"/>
            <a:ext cx="7579532" cy="738664"/>
          </a:xfrm>
          <a:prstGeom prst="rect">
            <a:avLst/>
          </a:prstGeom>
          <a:noFill/>
        </p:spPr>
        <p:txBody>
          <a:bodyPr wrap="square" rtlCol="0">
            <a:spAutoFit/>
          </a:bodyPr>
          <a:lstStyle/>
          <a:p>
            <a:pPr algn="just"/>
            <a:r>
              <a:rPr lang="en-IN" sz="1400" b="1" dirty="0">
                <a:solidFill>
                  <a:srgbClr val="FF0000"/>
                </a:solidFill>
                <a:latin typeface="Arial" panose="020B0604020202020204" pitchFamily="34" charset="0"/>
                <a:cs typeface="Arial" panose="020B0604020202020204" pitchFamily="34" charset="0"/>
              </a:rPr>
              <a:t>The data shows strong positive correlations with Yield, with Water Efficiency having the strongest relationship (0.92), followed by Production (0.89). This indicates that higher yield is closely associated with improved water efficiency and greater production.</a:t>
            </a:r>
          </a:p>
        </p:txBody>
      </p:sp>
      <p:pic>
        <p:nvPicPr>
          <p:cNvPr id="9" name="Picture 8">
            <a:extLst>
              <a:ext uri="{FF2B5EF4-FFF2-40B4-BE49-F238E27FC236}">
                <a16:creationId xmlns:a16="http://schemas.microsoft.com/office/drawing/2014/main" id="{CCBD7BD5-F552-2E5A-615D-ADB07F13A333}"/>
              </a:ext>
            </a:extLst>
          </p:cNvPr>
          <p:cNvPicPr>
            <a:picLocks noChangeAspect="1"/>
          </p:cNvPicPr>
          <p:nvPr/>
        </p:nvPicPr>
        <p:blipFill>
          <a:blip r:embed="rId3"/>
          <a:stretch>
            <a:fillRect/>
          </a:stretch>
        </p:blipFill>
        <p:spPr>
          <a:xfrm>
            <a:off x="858836" y="2015234"/>
            <a:ext cx="7797484" cy="1276520"/>
          </a:xfrm>
          <a:prstGeom prst="rect">
            <a:avLst/>
          </a:prstGeom>
          <a:ln>
            <a:solidFill>
              <a:schemeClr val="tx1"/>
            </a:solidFill>
          </a:ln>
        </p:spPr>
      </p:pic>
    </p:spTree>
    <p:extLst>
      <p:ext uri="{BB962C8B-B14F-4D97-AF65-F5344CB8AC3E}">
        <p14:creationId xmlns:p14="http://schemas.microsoft.com/office/powerpoint/2010/main" val="417690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747011"/>
          </a:xfrm>
        </p:spPr>
        <p:txBody>
          <a:bodyPr>
            <a:normAutofit/>
          </a:bodyPr>
          <a:lstStyle/>
          <a:p>
            <a:r>
              <a:rPr lang="en-IN" sz="4000" dirty="0">
                <a:latin typeface="Arial" panose="020B0604020202020204" pitchFamily="34" charset="0"/>
                <a:cs typeface="Arial" panose="020B0604020202020204" pitchFamily="34"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22E1FF23-3D4E-0C0E-5348-9186C6268F79}"/>
              </a:ext>
            </a:extLst>
          </p:cNvPr>
          <p:cNvSpPr txBox="1"/>
          <p:nvPr/>
        </p:nvSpPr>
        <p:spPr>
          <a:xfrm>
            <a:off x="743552" y="1016000"/>
            <a:ext cx="11127466" cy="5756832"/>
          </a:xfrm>
          <a:prstGeom prst="rect">
            <a:avLst/>
          </a:prstGeom>
          <a:noFill/>
        </p:spPr>
        <p:txBody>
          <a:bodyPr wrap="square">
            <a:spAutoFit/>
          </a:bodyPr>
          <a:lstStyle/>
          <a:p>
            <a:pPr>
              <a:lnSpc>
                <a:spcPct val="150000"/>
              </a:lnSpc>
              <a:buNone/>
            </a:pPr>
            <a:r>
              <a:rPr lang="en-IN" sz="1300" dirty="0">
                <a:latin typeface="Arial" panose="020B0604020202020204" pitchFamily="34" charset="0"/>
                <a:cs typeface="Arial" panose="020B0604020202020204" pitchFamily="34" charset="0"/>
              </a:rPr>
              <a:t>The </a:t>
            </a:r>
            <a:r>
              <a:rPr lang="en-IN" sz="1300" b="1" dirty="0">
                <a:latin typeface="Arial" panose="020B0604020202020204" pitchFamily="34" charset="0"/>
                <a:cs typeface="Arial" panose="020B0604020202020204" pitchFamily="34" charset="0"/>
              </a:rPr>
              <a:t>Seasonal Agricultural Performance Analysis</a:t>
            </a:r>
            <a:r>
              <a:rPr lang="en-IN" sz="1300" dirty="0">
                <a:latin typeface="Arial" panose="020B0604020202020204" pitchFamily="34" charset="0"/>
                <a:cs typeface="Arial" panose="020B0604020202020204" pitchFamily="34" charset="0"/>
              </a:rPr>
              <a:t> can be extended in the future in several ways:</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Predictive Analysis</a:t>
            </a:r>
            <a:r>
              <a:rPr lang="en-IN" sz="1300" dirty="0">
                <a:latin typeface="Arial" panose="020B0604020202020204" pitchFamily="34" charset="0"/>
                <a:cs typeface="Arial" panose="020B0604020202020204" pitchFamily="34" charset="0"/>
              </a:rPr>
              <a:t> – Develop machine learning models to predict crop yield, production, profitability, and disease/pest risk using environmental, soil, and farming factors.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Weather-Based Forecasting</a:t>
            </a:r>
            <a:r>
              <a:rPr lang="en-IN" sz="1300" dirty="0">
                <a:latin typeface="Arial" panose="020B0604020202020204" pitchFamily="34" charset="0"/>
                <a:cs typeface="Arial" panose="020B0604020202020204" pitchFamily="34" charset="0"/>
              </a:rPr>
              <a:t> – Integrate real-time and historical weather data to study how changing rainfall, temperature, humidity, and sunlight conditions may affect crop performance.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Crop Recommendation System</a:t>
            </a:r>
            <a:r>
              <a:rPr lang="en-IN" sz="1300" dirty="0">
                <a:latin typeface="Arial" panose="020B0604020202020204" pitchFamily="34" charset="0"/>
                <a:cs typeface="Arial" panose="020B0604020202020204" pitchFamily="34" charset="0"/>
              </a:rPr>
              <a:t> – Build a recommendation model that suggests suitable crops and seasons based on soil conditions, climate, water availability, and expected profitability.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Resource Optimization</a:t>
            </a:r>
            <a:r>
              <a:rPr lang="en-IN" sz="1300" dirty="0">
                <a:latin typeface="Arial" panose="020B0604020202020204" pitchFamily="34" charset="0"/>
                <a:cs typeface="Arial" panose="020B0604020202020204" pitchFamily="34" charset="0"/>
              </a:rPr>
              <a:t> – Develop models to recommend efficient levels of irrigation, fertilizer, pesticide, and nutrient usage while maintaining or improving yield.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Real-Time Agricultural Monitoring</a:t>
            </a:r>
            <a:r>
              <a:rPr lang="en-IN" sz="1300" dirty="0">
                <a:latin typeface="Arial" panose="020B0604020202020204" pitchFamily="34" charset="0"/>
                <a:cs typeface="Arial" panose="020B0604020202020204" pitchFamily="34" charset="0"/>
              </a:rPr>
              <a:t> – Integrate IoT sensors and satellite data to monitor soil moisture, temperature, rainfall, and crop conditions in real time.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Market Price Forecasting</a:t>
            </a:r>
            <a:r>
              <a:rPr lang="en-IN" sz="1300" dirty="0">
                <a:latin typeface="Arial" panose="020B0604020202020204" pitchFamily="34" charset="0"/>
                <a:cs typeface="Arial" panose="020B0604020202020204" pitchFamily="34" charset="0"/>
              </a:rPr>
              <a:t> – Incorporate historical market data to predict crop prices and help farmers make better crop selection and selling decisions.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Interactive Dashboard</a:t>
            </a:r>
            <a:r>
              <a:rPr lang="en-IN" sz="1300" dirty="0">
                <a:latin typeface="Arial" panose="020B0604020202020204" pitchFamily="34" charset="0"/>
                <a:cs typeface="Arial" panose="020B0604020202020204" pitchFamily="34" charset="0"/>
              </a:rPr>
              <a:t> – Develop an interactive dashboard using Power BI or Tableau to allow farmers, analysts, and agricultural authorities to explore seasonal and regional performance dynamically.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Geospatial Analysis</a:t>
            </a:r>
            <a:r>
              <a:rPr lang="en-IN" sz="1300" dirty="0">
                <a:latin typeface="Arial" panose="020B0604020202020204" pitchFamily="34" charset="0"/>
                <a:cs typeface="Arial" panose="020B0604020202020204" pitchFamily="34" charset="0"/>
              </a:rPr>
              <a:t> – Use GIS and satellite imagery to identify high-performing agricultural regions, monitor crop conditions, and </a:t>
            </a:r>
            <a:r>
              <a:rPr lang="en-IN" sz="1300" dirty="0" err="1">
                <a:latin typeface="Arial" panose="020B0604020202020204" pitchFamily="34" charset="0"/>
                <a:cs typeface="Arial" panose="020B0604020202020204" pitchFamily="34" charset="0"/>
              </a:rPr>
              <a:t>analyze</a:t>
            </a:r>
            <a:r>
              <a:rPr lang="en-IN" sz="1300" dirty="0">
                <a:latin typeface="Arial" panose="020B0604020202020204" pitchFamily="34" charset="0"/>
                <a:cs typeface="Arial" panose="020B0604020202020204" pitchFamily="34" charset="0"/>
              </a:rPr>
              <a:t> spatial variations in productivity. </a:t>
            </a:r>
          </a:p>
          <a:p>
            <a:pPr marL="342900" lvl="0" indent="-342900">
              <a:lnSpc>
                <a:spcPct val="150000"/>
              </a:lnSpc>
              <a:buFont typeface="+mj-lt"/>
              <a:buAutoNum type="arabicPeriod"/>
            </a:pPr>
            <a:r>
              <a:rPr lang="en-IN" sz="1300" b="1" dirty="0">
                <a:latin typeface="Arial" panose="020B0604020202020204" pitchFamily="34" charset="0"/>
                <a:cs typeface="Arial" panose="020B0604020202020204" pitchFamily="34" charset="0"/>
              </a:rPr>
              <a:t>Climate Change Analysis</a:t>
            </a:r>
            <a:r>
              <a:rPr lang="en-IN" sz="1300" dirty="0">
                <a:latin typeface="Arial" panose="020B0604020202020204" pitchFamily="34" charset="0"/>
                <a:cs typeface="Arial" panose="020B0604020202020204" pitchFamily="34" charset="0"/>
              </a:rPr>
              <a:t> – Extend the dataset over multiple years to investigate long-term changes in seasonal agricultural productivity and their relationship with changing environmental conditions.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latin typeface="Arial" panose="020B0604020202020204" pitchFamily="34" charset="0"/>
                <a:cs typeface="Arial" panose="020B0604020202020204" pitchFamily="34"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EDF9D026-BED0-FF18-7629-C3FA442DF93E}"/>
              </a:ext>
            </a:extLst>
          </p:cNvPr>
          <p:cNvSpPr txBox="1"/>
          <p:nvPr/>
        </p:nvSpPr>
        <p:spPr>
          <a:xfrm>
            <a:off x="675957" y="1201586"/>
            <a:ext cx="9448800" cy="400110"/>
          </a:xfrm>
          <a:prstGeom prst="rect">
            <a:avLst/>
          </a:prstGeom>
          <a:noFill/>
        </p:spPr>
        <p:txBody>
          <a:bodyPr wrap="square" rtlCol="0">
            <a:spAutoFit/>
          </a:bodyPr>
          <a:lstStyle/>
          <a:p>
            <a:r>
              <a:rPr lang="en-IN" sz="2000" dirty="0">
                <a:solidFill>
                  <a:schemeClr val="accent2">
                    <a:lumMod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https://github.com/RitikaMoolya/Seasonal-Agricultural-Performance-Analysis</a:t>
            </a:r>
            <a:endParaRPr lang="en-IN" sz="2000" dirty="0">
              <a:solidFill>
                <a:schemeClr val="accent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6" y="320527"/>
            <a:ext cx="11327975" cy="884658"/>
          </a:xfrm>
        </p:spPr>
        <p:txBody>
          <a:bodyPr>
            <a:normAutofit fontScale="90000"/>
          </a:bodyPr>
          <a:lstStyle/>
          <a:p>
            <a:r>
              <a:rPr lang="en-IN" sz="3200" dirty="0">
                <a:latin typeface="Arial" panose="020B0604020202020204" pitchFamily="34" charset="0"/>
                <a:cs typeface="Arial" panose="020B0604020202020204" pitchFamily="34" charset="0"/>
              </a:rPr>
              <a:t>VOIS Course completion certificate - Course name -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F9A01BA-F571-D54A-5BB3-B58965826EEB}"/>
              </a:ext>
            </a:extLst>
          </p:cNvPr>
          <p:cNvPicPr>
            <a:picLocks noChangeAspect="1"/>
          </p:cNvPicPr>
          <p:nvPr/>
        </p:nvPicPr>
        <p:blipFill>
          <a:blip r:embed="rId3"/>
          <a:srcRect l="352" t="407" b="1"/>
          <a:stretch>
            <a:fillRect/>
          </a:stretch>
        </p:blipFill>
        <p:spPr>
          <a:xfrm>
            <a:off x="675956" y="1275371"/>
            <a:ext cx="7699559" cy="545977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Autofit/>
          </a:bodyP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1236</TotalTime>
  <Words>5206</Words>
  <Application>Microsoft Office PowerPoint</Application>
  <PresentationFormat>Widescreen</PresentationFormat>
  <Paragraphs>346</Paragraphs>
  <Slides>63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Trebuchet MS</vt:lpstr>
      <vt:lpstr>Wingdings</vt:lpstr>
      <vt:lpstr>Wingdings 3</vt:lpstr>
      <vt:lpstr>Facet</vt:lpstr>
      <vt:lpstr>Seasonal Agricultural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Ritika Moolya</cp:lastModifiedBy>
  <cp:revision>98</cp:revision>
  <dcterms:created xsi:type="dcterms:W3CDTF">2021-07-11T13:13:15Z</dcterms:created>
  <dcterms:modified xsi:type="dcterms:W3CDTF">2026-09-11T09:51:46Z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